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9D7E41C-CF76-491C-886A-9E89E48282F5}">
  <a:tblStyle styleId="{E9D7E41C-CF76-491C-886A-9E89E48282F5}" styleName="Table_0">
    <a:wholeTbl>
      <a:tcTxStyle>
        <a:font>
          <a:latin typeface="Arial"/>
          <a:ea typeface="Arial"/>
          <a:cs typeface="Arial"/>
        </a:font>
        <a:srgbClr val="000000"/>
      </a:tcTxStyle>
      <a:tcStyle>
        <a:tcBdr>
          <a:left>
            <a:ln cap="flat" cmpd="sng" w="12700">
              <a:solidFill>
                <a:srgbClr val="000000"/>
              </a:solidFill>
              <a:prstDash val="solid"/>
              <a:round/>
              <a:headEnd len="sm" w="sm" type="none"/>
              <a:tailEnd len="sm" w="sm" type="none"/>
            </a:ln>
          </a:left>
          <a:right>
            <a:ln cap="flat" cmpd="sng" w="12700">
              <a:solidFill>
                <a:srgbClr val="000000"/>
              </a:solidFill>
              <a:prstDash val="solid"/>
              <a:round/>
              <a:headEnd len="sm" w="sm" type="none"/>
              <a:tailEnd len="sm" w="sm" type="none"/>
            </a:ln>
          </a:right>
          <a:top>
            <a:ln cap="flat" cmpd="sng" w="12700">
              <a:solidFill>
                <a:srgbClr val="000000"/>
              </a:solidFill>
              <a:prstDash val="solid"/>
              <a:round/>
              <a:headEnd len="sm" w="sm" type="none"/>
              <a:tailEnd len="sm" w="sm" type="none"/>
            </a:ln>
          </a:top>
          <a:bottom>
            <a:ln cap="flat" cmpd="sng" w="12700">
              <a:solidFill>
                <a:srgbClr val="000000"/>
              </a:solidFill>
              <a:prstDash val="solid"/>
              <a:round/>
              <a:headEnd len="sm" w="sm" type="none"/>
              <a:tailEnd len="sm" w="sm" type="none"/>
            </a:ln>
          </a:bottom>
          <a:insideH>
            <a:ln cap="flat" cmpd="sng" w="12700">
              <a:solidFill>
                <a:srgbClr val="000000"/>
              </a:solidFill>
              <a:prstDash val="solid"/>
              <a:round/>
              <a:headEnd len="sm" w="sm" type="none"/>
              <a:tailEnd len="sm" w="sm" type="none"/>
            </a:ln>
          </a:insideH>
          <a:insideV>
            <a:ln cap="flat" cmpd="sng" w="12700">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0637C82A-1049-4D5A-81DC-EBF57A212903}"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ac975b081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ac975b081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ac975b0810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ac975b0810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ac975b0810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ac975b0810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3ac975b0810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3ac975b0810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3ac975b0810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3ac975b0810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Now I’ll talk about the ALS model. ALS is a latent factor method that learns embeddings for users and items from implicit feedback. It’s a good fit for our data because it scales well on large, sparse matrices.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For preprocessing, we mapped user and item IDs to integers, removed very rare items, built a CSR sparse matrix, and used a 90/10 train–validation split. For one variant we also applied BM25 weighting to reduce the effect of very popular items.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We trained three ALS configurations by changing the number of factors, regularization, iterations, and whether BM25 was used. As you can see in the table and bar chart, </a:t>
            </a:r>
            <a:r>
              <a:rPr b="1" lang="en">
                <a:solidFill>
                  <a:schemeClr val="dk1"/>
                </a:solidFill>
              </a:rPr>
              <a:t>ALS Tweak 1</a:t>
            </a:r>
            <a:r>
              <a:rPr lang="en">
                <a:solidFill>
                  <a:schemeClr val="dk1"/>
                </a:solidFill>
              </a:rPr>
              <a:t> with 128 factors gave the best NDCG@20 of about </a:t>
            </a:r>
            <a:r>
              <a:rPr b="1" lang="en">
                <a:solidFill>
                  <a:schemeClr val="dk1"/>
                </a:solidFill>
              </a:rPr>
              <a:t>0.0419</a:t>
            </a:r>
            <a:r>
              <a:rPr lang="en">
                <a:solidFill>
                  <a:schemeClr val="dk1"/>
                </a:solidFill>
              </a:rPr>
              <a:t>, which was the highest score across all our models. The BM25 version trained stably but ended up with slightly lower NDCG. Overall, ALS turned out to be the strongest model in our project.”</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ac975b0810_3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3ac975b0810_3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ac975b0810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ac975b0810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ac975b0810_4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3ac975b0810_4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552000" y="345175"/>
            <a:ext cx="82803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b="1" lang="en" sz="4000">
                <a:latin typeface="Times New Roman"/>
                <a:ea typeface="Times New Roman"/>
                <a:cs typeface="Times New Roman"/>
                <a:sym typeface="Times New Roman"/>
              </a:rPr>
              <a:t>Recommender System for User Item Interactions</a:t>
            </a:r>
            <a:endParaRPr b="1" sz="4000">
              <a:latin typeface="Times New Roman"/>
              <a:ea typeface="Times New Roman"/>
              <a:cs typeface="Times New Roman"/>
              <a:sym typeface="Times New Roman"/>
            </a:endParaRPr>
          </a:p>
        </p:txBody>
      </p:sp>
      <p:sp>
        <p:nvSpPr>
          <p:cNvPr id="55" name="Google Shape;55;p13"/>
          <p:cNvSpPr txBox="1"/>
          <p:nvPr>
            <p:ph idx="1" type="subTitle"/>
          </p:nvPr>
        </p:nvSpPr>
        <p:spPr>
          <a:xfrm>
            <a:off x="311700" y="2834125"/>
            <a:ext cx="8520600" cy="1919700"/>
          </a:xfrm>
          <a:prstGeom prst="rect">
            <a:avLst/>
          </a:prstGeom>
        </p:spPr>
        <p:txBody>
          <a:bodyPr anchorCtr="0" anchor="t" bIns="91425" lIns="91425" spcFirstLastPara="1" rIns="91425" wrap="square" tIns="91425">
            <a:normAutofit/>
          </a:bodyPr>
          <a:lstStyle/>
          <a:p>
            <a:pPr indent="0" lvl="0" marL="0" rtl="0" algn="ctr">
              <a:lnSpc>
                <a:spcPct val="80000"/>
              </a:lnSpc>
              <a:spcBef>
                <a:spcPts val="0"/>
              </a:spcBef>
              <a:spcAft>
                <a:spcPts val="0"/>
              </a:spcAft>
              <a:buNone/>
            </a:pPr>
            <a:r>
              <a:t/>
            </a:r>
            <a:endParaRPr sz="2200">
              <a:latin typeface="Times New Roman"/>
              <a:ea typeface="Times New Roman"/>
              <a:cs typeface="Times New Roman"/>
              <a:sym typeface="Times New Roman"/>
            </a:endParaRPr>
          </a:p>
          <a:p>
            <a:pPr indent="0" lvl="0" marL="0" rtl="0" algn="ctr">
              <a:lnSpc>
                <a:spcPct val="80000"/>
              </a:lnSpc>
              <a:spcBef>
                <a:spcPts val="0"/>
              </a:spcBef>
              <a:spcAft>
                <a:spcPts val="0"/>
              </a:spcAft>
              <a:buNone/>
            </a:pPr>
            <a:r>
              <a:rPr lang="en" sz="2200">
                <a:solidFill>
                  <a:schemeClr val="dk1"/>
                </a:solidFill>
                <a:latin typeface="Times New Roman"/>
                <a:ea typeface="Times New Roman"/>
                <a:cs typeface="Times New Roman"/>
                <a:sym typeface="Times New Roman"/>
              </a:rPr>
              <a:t>By</a:t>
            </a:r>
            <a:endParaRPr sz="2200">
              <a:solidFill>
                <a:schemeClr val="dk1"/>
              </a:solidFill>
              <a:latin typeface="Times New Roman"/>
              <a:ea typeface="Times New Roman"/>
              <a:cs typeface="Times New Roman"/>
              <a:sym typeface="Times New Roman"/>
            </a:endParaRPr>
          </a:p>
          <a:p>
            <a:pPr indent="0" lvl="0" marL="0" rtl="0" algn="ctr">
              <a:lnSpc>
                <a:spcPct val="80000"/>
              </a:lnSpc>
              <a:spcBef>
                <a:spcPts val="0"/>
              </a:spcBef>
              <a:spcAft>
                <a:spcPts val="0"/>
              </a:spcAft>
              <a:buNone/>
            </a:pPr>
            <a:r>
              <a:t/>
            </a:r>
            <a:endParaRPr sz="2200">
              <a:solidFill>
                <a:schemeClr val="dk1"/>
              </a:solidFill>
              <a:latin typeface="Times New Roman"/>
              <a:ea typeface="Times New Roman"/>
              <a:cs typeface="Times New Roman"/>
              <a:sym typeface="Times New Roman"/>
            </a:endParaRPr>
          </a:p>
          <a:p>
            <a:pPr indent="0" lvl="0" marL="0" rtl="0" algn="ctr">
              <a:lnSpc>
                <a:spcPct val="80000"/>
              </a:lnSpc>
              <a:spcBef>
                <a:spcPts val="0"/>
              </a:spcBef>
              <a:spcAft>
                <a:spcPts val="0"/>
              </a:spcAft>
              <a:buNone/>
            </a:pPr>
            <a:r>
              <a:rPr lang="en" sz="2200">
                <a:solidFill>
                  <a:schemeClr val="dk1"/>
                </a:solidFill>
                <a:latin typeface="Times New Roman"/>
                <a:ea typeface="Times New Roman"/>
                <a:cs typeface="Times New Roman"/>
                <a:sym typeface="Times New Roman"/>
              </a:rPr>
              <a:t>Sai Harshitha Peddi-018222087</a:t>
            </a:r>
            <a:endParaRPr sz="2200">
              <a:solidFill>
                <a:schemeClr val="dk1"/>
              </a:solidFill>
              <a:latin typeface="Times New Roman"/>
              <a:ea typeface="Times New Roman"/>
              <a:cs typeface="Times New Roman"/>
              <a:sym typeface="Times New Roman"/>
            </a:endParaRPr>
          </a:p>
          <a:p>
            <a:pPr indent="0" lvl="0" marL="0" rtl="0" algn="ctr">
              <a:lnSpc>
                <a:spcPct val="80000"/>
              </a:lnSpc>
              <a:spcBef>
                <a:spcPts val="0"/>
              </a:spcBef>
              <a:spcAft>
                <a:spcPts val="0"/>
              </a:spcAft>
              <a:buNone/>
            </a:pPr>
            <a:r>
              <a:rPr lang="en" sz="2200">
                <a:solidFill>
                  <a:schemeClr val="dk1"/>
                </a:solidFill>
                <a:latin typeface="Times New Roman"/>
                <a:ea typeface="Times New Roman"/>
                <a:cs typeface="Times New Roman"/>
                <a:sym typeface="Times New Roman"/>
              </a:rPr>
              <a:t>Hemanth Sai Kosari-018223049</a:t>
            </a:r>
            <a:endParaRPr sz="2200">
              <a:solidFill>
                <a:schemeClr val="dk1"/>
              </a:solidFill>
              <a:latin typeface="Times New Roman"/>
              <a:ea typeface="Times New Roman"/>
              <a:cs typeface="Times New Roman"/>
              <a:sym typeface="Times New Roman"/>
            </a:endParaRPr>
          </a:p>
          <a:p>
            <a:pPr indent="0" lvl="0" marL="0" rtl="0" algn="ctr">
              <a:lnSpc>
                <a:spcPct val="80000"/>
              </a:lnSpc>
              <a:spcBef>
                <a:spcPts val="0"/>
              </a:spcBef>
              <a:spcAft>
                <a:spcPts val="0"/>
              </a:spcAft>
              <a:buNone/>
            </a:pPr>
            <a:r>
              <a:rPr lang="en" sz="2200">
                <a:solidFill>
                  <a:schemeClr val="dk1"/>
                </a:solidFill>
                <a:latin typeface="Times New Roman"/>
                <a:ea typeface="Times New Roman"/>
                <a:cs typeface="Times New Roman"/>
                <a:sym typeface="Times New Roman"/>
              </a:rPr>
              <a:t>Bhargava Phaneendra Kumar Suryadevara-018176379</a:t>
            </a:r>
            <a:endParaRPr sz="2200">
              <a:solidFill>
                <a:schemeClr val="dk1"/>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1916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Times New Roman"/>
                <a:ea typeface="Times New Roman"/>
                <a:cs typeface="Times New Roman"/>
                <a:sym typeface="Times New Roman"/>
              </a:rPr>
              <a:t>Motivation</a:t>
            </a:r>
            <a:endParaRPr>
              <a:latin typeface="Times New Roman"/>
              <a:ea typeface="Times New Roman"/>
              <a:cs typeface="Times New Roman"/>
              <a:sym typeface="Times New Roman"/>
            </a:endParaRPr>
          </a:p>
        </p:txBody>
      </p:sp>
      <p:sp>
        <p:nvSpPr>
          <p:cNvPr id="61" name="Google Shape;61;p14"/>
          <p:cNvSpPr txBox="1"/>
          <p:nvPr>
            <p:ph idx="1" type="body"/>
          </p:nvPr>
        </p:nvSpPr>
        <p:spPr>
          <a:xfrm>
            <a:off x="398075" y="726375"/>
            <a:ext cx="8520600" cy="38301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Clr>
                <a:schemeClr val="dk1"/>
              </a:buClr>
              <a:buSzPts val="1100"/>
              <a:buFont typeface="Arial"/>
              <a:buNone/>
            </a:pPr>
            <a:r>
              <a:rPr lang="en" sz="1300">
                <a:solidFill>
                  <a:schemeClr val="dk1"/>
                </a:solidFill>
                <a:latin typeface="Times New Roman"/>
                <a:ea typeface="Times New Roman"/>
                <a:cs typeface="Times New Roman"/>
                <a:sym typeface="Times New Roman"/>
              </a:rPr>
              <a:t>Why this project matters</a:t>
            </a:r>
            <a:endParaRPr sz="1300">
              <a:solidFill>
                <a:schemeClr val="dk1"/>
              </a:solidFill>
              <a:latin typeface="Times New Roman"/>
              <a:ea typeface="Times New Roman"/>
              <a:cs typeface="Times New Roman"/>
              <a:sym typeface="Times New Roman"/>
            </a:endParaRPr>
          </a:p>
          <a:p>
            <a:pPr indent="-311150" lvl="0" marL="457200" rtl="0" algn="l">
              <a:spcBef>
                <a:spcPts val="1200"/>
              </a:spcBef>
              <a:spcAft>
                <a:spcPts val="0"/>
              </a:spcAft>
              <a:buClr>
                <a:schemeClr val="dk1"/>
              </a:buClr>
              <a:buSzPts val="1300"/>
              <a:buFont typeface="Times New Roman"/>
              <a:buChar char="●"/>
            </a:pPr>
            <a:r>
              <a:rPr lang="en" sz="1300">
                <a:solidFill>
                  <a:schemeClr val="dk1"/>
                </a:solidFill>
                <a:latin typeface="Times New Roman"/>
                <a:ea typeface="Times New Roman"/>
                <a:cs typeface="Times New Roman"/>
                <a:sym typeface="Times New Roman"/>
              </a:rPr>
              <a:t>Most real-world platforms (YouTube, Spotify, Amazon) rely heavily on </a:t>
            </a:r>
            <a:r>
              <a:rPr i="1" lang="en" sz="1300">
                <a:solidFill>
                  <a:schemeClr val="dk1"/>
                </a:solidFill>
                <a:latin typeface="Times New Roman"/>
                <a:ea typeface="Times New Roman"/>
                <a:cs typeface="Times New Roman"/>
                <a:sym typeface="Times New Roman"/>
              </a:rPr>
              <a:t>implicit feedback</a:t>
            </a:r>
            <a:r>
              <a:rPr lang="en" sz="1300">
                <a:solidFill>
                  <a:schemeClr val="dk1"/>
                </a:solidFill>
                <a:latin typeface="Times New Roman"/>
                <a:ea typeface="Times New Roman"/>
                <a:cs typeface="Times New Roman"/>
                <a:sym typeface="Times New Roman"/>
              </a:rPr>
              <a:t> (clicks, views, listens).</a:t>
            </a:r>
            <a:endParaRPr sz="1300">
              <a:solidFill>
                <a:schemeClr val="dk1"/>
              </a:solidFill>
              <a:latin typeface="Times New Roman"/>
              <a:ea typeface="Times New Roman"/>
              <a:cs typeface="Times New Roman"/>
              <a:sym typeface="Times New Roman"/>
            </a:endParaRPr>
          </a:p>
          <a:p>
            <a:pPr indent="-311150" lvl="0" marL="457200" rtl="0" algn="l">
              <a:spcBef>
                <a:spcPts val="0"/>
              </a:spcBef>
              <a:spcAft>
                <a:spcPts val="0"/>
              </a:spcAft>
              <a:buClr>
                <a:schemeClr val="dk1"/>
              </a:buClr>
              <a:buSzPts val="1300"/>
              <a:buFont typeface="Times New Roman"/>
              <a:buChar char="●"/>
            </a:pPr>
            <a:r>
              <a:rPr lang="en" sz="1300">
                <a:solidFill>
                  <a:schemeClr val="dk1"/>
                </a:solidFill>
                <a:latin typeface="Times New Roman"/>
                <a:ea typeface="Times New Roman"/>
                <a:cs typeface="Times New Roman"/>
                <a:sym typeface="Times New Roman"/>
              </a:rPr>
              <a:t>Unlike explicit ratings, implicit interactions do not directly tell us preference strength.</a:t>
            </a:r>
            <a:endParaRPr sz="1300">
              <a:solidFill>
                <a:schemeClr val="dk1"/>
              </a:solidFill>
              <a:latin typeface="Times New Roman"/>
              <a:ea typeface="Times New Roman"/>
              <a:cs typeface="Times New Roman"/>
              <a:sym typeface="Times New Roman"/>
            </a:endParaRPr>
          </a:p>
          <a:p>
            <a:pPr indent="-311150" lvl="0" marL="457200" rtl="0" algn="l">
              <a:spcBef>
                <a:spcPts val="0"/>
              </a:spcBef>
              <a:spcAft>
                <a:spcPts val="0"/>
              </a:spcAft>
              <a:buClr>
                <a:schemeClr val="dk1"/>
              </a:buClr>
              <a:buSzPts val="1300"/>
              <a:buFont typeface="Times New Roman"/>
              <a:buChar char="●"/>
            </a:pPr>
            <a:r>
              <a:rPr lang="en" sz="1300">
                <a:solidFill>
                  <a:schemeClr val="dk1"/>
                </a:solidFill>
                <a:latin typeface="Times New Roman"/>
                <a:ea typeface="Times New Roman"/>
                <a:cs typeface="Times New Roman"/>
                <a:sym typeface="Times New Roman"/>
              </a:rPr>
              <a:t>This makes the learning problem harder and requires specialized algorithms.</a:t>
            </a:r>
            <a:endParaRPr sz="1300">
              <a:solidFill>
                <a:schemeClr val="dk1"/>
              </a:solidFill>
              <a:latin typeface="Times New Roman"/>
              <a:ea typeface="Times New Roman"/>
              <a:cs typeface="Times New Roman"/>
              <a:sym typeface="Times New Roman"/>
            </a:endParaRPr>
          </a:p>
          <a:p>
            <a:pPr indent="0" lvl="0" marL="0" rtl="0" algn="l">
              <a:spcBef>
                <a:spcPts val="1200"/>
              </a:spcBef>
              <a:spcAft>
                <a:spcPts val="0"/>
              </a:spcAft>
              <a:buClr>
                <a:schemeClr val="dk1"/>
              </a:buClr>
              <a:buSzPts val="1100"/>
              <a:buFont typeface="Arial"/>
              <a:buNone/>
            </a:pPr>
            <a:r>
              <a:rPr lang="en" sz="1300">
                <a:solidFill>
                  <a:schemeClr val="dk1"/>
                </a:solidFill>
                <a:latin typeface="Times New Roman"/>
                <a:ea typeface="Times New Roman"/>
                <a:cs typeface="Times New Roman"/>
                <a:sym typeface="Times New Roman"/>
              </a:rPr>
              <a:t>Project Motivation</a:t>
            </a:r>
            <a:endParaRPr sz="1300">
              <a:solidFill>
                <a:schemeClr val="dk1"/>
              </a:solidFill>
              <a:latin typeface="Times New Roman"/>
              <a:ea typeface="Times New Roman"/>
              <a:cs typeface="Times New Roman"/>
              <a:sym typeface="Times New Roman"/>
            </a:endParaRPr>
          </a:p>
          <a:p>
            <a:pPr indent="-311150" lvl="0" marL="457200" rtl="0" algn="l">
              <a:spcBef>
                <a:spcPts val="1200"/>
              </a:spcBef>
              <a:spcAft>
                <a:spcPts val="0"/>
              </a:spcAft>
              <a:buClr>
                <a:schemeClr val="dk1"/>
              </a:buClr>
              <a:buSzPts val="1300"/>
              <a:buFont typeface="Times New Roman"/>
              <a:buChar char="●"/>
            </a:pPr>
            <a:r>
              <a:rPr lang="en" sz="1300">
                <a:solidFill>
                  <a:schemeClr val="dk1"/>
                </a:solidFill>
                <a:latin typeface="Times New Roman"/>
                <a:ea typeface="Times New Roman"/>
                <a:cs typeface="Times New Roman"/>
                <a:sym typeface="Times New Roman"/>
              </a:rPr>
              <a:t>This project evaluates three fundamentally different recommendation approaches - LightGCN, ALS, and Collaborative Filtering—each implemented independently to understand how contrasting modeling strategies behave on the </a:t>
            </a:r>
            <a:r>
              <a:rPr i="1" lang="en" sz="1300">
                <a:solidFill>
                  <a:schemeClr val="dk1"/>
                </a:solidFill>
                <a:latin typeface="Times New Roman"/>
                <a:ea typeface="Times New Roman"/>
                <a:cs typeface="Times New Roman"/>
                <a:sym typeface="Times New Roman"/>
              </a:rPr>
              <a:t>same</a:t>
            </a:r>
            <a:r>
              <a:rPr lang="en" sz="1300">
                <a:solidFill>
                  <a:schemeClr val="dk1"/>
                </a:solidFill>
                <a:latin typeface="Times New Roman"/>
                <a:ea typeface="Times New Roman"/>
                <a:cs typeface="Times New Roman"/>
                <a:sym typeface="Times New Roman"/>
              </a:rPr>
              <a:t> implicit-feedback dataset.</a:t>
            </a:r>
            <a:endParaRPr sz="1300">
              <a:solidFill>
                <a:schemeClr val="dk1"/>
              </a:solidFill>
              <a:latin typeface="Times New Roman"/>
              <a:ea typeface="Times New Roman"/>
              <a:cs typeface="Times New Roman"/>
              <a:sym typeface="Times New Roman"/>
            </a:endParaRPr>
          </a:p>
          <a:p>
            <a:pPr indent="-311150" lvl="0" marL="457200" rtl="0" algn="l">
              <a:spcBef>
                <a:spcPts val="0"/>
              </a:spcBef>
              <a:spcAft>
                <a:spcPts val="0"/>
              </a:spcAft>
              <a:buClr>
                <a:schemeClr val="dk1"/>
              </a:buClr>
              <a:buSzPts val="1300"/>
              <a:buFont typeface="Times New Roman"/>
              <a:buChar char="●"/>
            </a:pPr>
            <a:r>
              <a:rPr lang="en" sz="1300">
                <a:solidFill>
                  <a:schemeClr val="dk1"/>
                </a:solidFill>
                <a:latin typeface="Times New Roman"/>
                <a:ea typeface="Times New Roman"/>
                <a:cs typeface="Times New Roman"/>
                <a:sym typeface="Times New Roman"/>
              </a:rPr>
              <a:t>By testing them under identical conditions, we can fairly compare how well each method handles sparsity, missing data, and the absence of explicit ratings.</a:t>
            </a:r>
            <a:endParaRPr sz="1300">
              <a:solidFill>
                <a:schemeClr val="dk1"/>
              </a:solidFill>
              <a:latin typeface="Times New Roman"/>
              <a:ea typeface="Times New Roman"/>
              <a:cs typeface="Times New Roman"/>
              <a:sym typeface="Times New Roman"/>
            </a:endParaRPr>
          </a:p>
          <a:p>
            <a:pPr indent="0" lvl="0" marL="0" rtl="0" algn="l">
              <a:spcBef>
                <a:spcPts val="1200"/>
              </a:spcBef>
              <a:spcAft>
                <a:spcPts val="0"/>
              </a:spcAft>
              <a:buClr>
                <a:schemeClr val="dk1"/>
              </a:buClr>
              <a:buSzPts val="1100"/>
              <a:buFont typeface="Arial"/>
              <a:buNone/>
            </a:pPr>
            <a:r>
              <a:rPr lang="en" sz="1300">
                <a:solidFill>
                  <a:schemeClr val="dk1"/>
                </a:solidFill>
                <a:latin typeface="Times New Roman"/>
                <a:ea typeface="Times New Roman"/>
                <a:cs typeface="Times New Roman"/>
                <a:sym typeface="Times New Roman"/>
              </a:rPr>
              <a:t>Our objective</a:t>
            </a:r>
            <a:endParaRPr sz="1300">
              <a:solidFill>
                <a:schemeClr val="dk1"/>
              </a:solidFill>
              <a:latin typeface="Times New Roman"/>
              <a:ea typeface="Times New Roman"/>
              <a:cs typeface="Times New Roman"/>
              <a:sym typeface="Times New Roman"/>
            </a:endParaRPr>
          </a:p>
          <a:p>
            <a:pPr indent="-311150" lvl="0" marL="457200" rtl="0" algn="l">
              <a:spcBef>
                <a:spcPts val="1200"/>
              </a:spcBef>
              <a:spcAft>
                <a:spcPts val="0"/>
              </a:spcAft>
              <a:buClr>
                <a:schemeClr val="dk1"/>
              </a:buClr>
              <a:buSzPts val="1300"/>
              <a:buFont typeface="Times New Roman"/>
              <a:buChar char="●"/>
            </a:pPr>
            <a:r>
              <a:rPr lang="en" sz="1300">
                <a:solidFill>
                  <a:schemeClr val="dk1"/>
                </a:solidFill>
                <a:latin typeface="Times New Roman"/>
                <a:ea typeface="Times New Roman"/>
                <a:cs typeface="Times New Roman"/>
                <a:sym typeface="Times New Roman"/>
              </a:rPr>
              <a:t>Build a top-20 recommendation system using implicit interactions.</a:t>
            </a:r>
            <a:endParaRPr sz="1300">
              <a:solidFill>
                <a:schemeClr val="dk1"/>
              </a:solidFill>
              <a:latin typeface="Times New Roman"/>
              <a:ea typeface="Times New Roman"/>
              <a:cs typeface="Times New Roman"/>
              <a:sym typeface="Times New Roman"/>
            </a:endParaRPr>
          </a:p>
          <a:p>
            <a:pPr indent="-311150" lvl="0" marL="457200" rtl="0" algn="l">
              <a:spcBef>
                <a:spcPts val="0"/>
              </a:spcBef>
              <a:spcAft>
                <a:spcPts val="0"/>
              </a:spcAft>
              <a:buClr>
                <a:schemeClr val="dk1"/>
              </a:buClr>
              <a:buSzPts val="1300"/>
              <a:buFont typeface="Times New Roman"/>
              <a:buChar char="●"/>
            </a:pPr>
            <a:r>
              <a:rPr lang="en" sz="1300">
                <a:solidFill>
                  <a:schemeClr val="dk1"/>
                </a:solidFill>
                <a:latin typeface="Times New Roman"/>
                <a:ea typeface="Times New Roman"/>
                <a:cs typeface="Times New Roman"/>
                <a:sym typeface="Times New Roman"/>
              </a:rPr>
              <a:t>Analyze which modeling approach works best on our dataset.</a:t>
            </a:r>
            <a:br>
              <a:rPr lang="en" sz="1300">
                <a:solidFill>
                  <a:schemeClr val="dk1"/>
                </a:solidFill>
                <a:latin typeface="Times New Roman"/>
                <a:ea typeface="Times New Roman"/>
                <a:cs typeface="Times New Roman"/>
                <a:sym typeface="Times New Roman"/>
              </a:rPr>
            </a:br>
            <a:endParaRPr sz="1300">
              <a:solidFill>
                <a:schemeClr val="dk1"/>
              </a:solidFill>
              <a:latin typeface="Times New Roman"/>
              <a:ea typeface="Times New Roman"/>
              <a:cs typeface="Times New Roman"/>
              <a:sym typeface="Times New Roman"/>
            </a:endParaRPr>
          </a:p>
          <a:p>
            <a:pPr indent="0" lvl="0" marL="457200" rtl="0" algn="l">
              <a:lnSpc>
                <a:spcPct val="100000"/>
              </a:lnSpc>
              <a:spcBef>
                <a:spcPts val="1200"/>
              </a:spcBef>
              <a:spcAft>
                <a:spcPts val="0"/>
              </a:spcAft>
              <a:buClr>
                <a:schemeClr val="dk1"/>
              </a:buClr>
              <a:buSzPts val="1100"/>
              <a:buFont typeface="Arial"/>
              <a:buNone/>
            </a:pPr>
            <a:r>
              <a:t/>
            </a:r>
            <a:endParaRPr sz="1300">
              <a:solidFill>
                <a:schemeClr val="dk1"/>
              </a:solidFill>
              <a:latin typeface="Times New Roman"/>
              <a:ea typeface="Times New Roman"/>
              <a:cs typeface="Times New Roman"/>
              <a:sym typeface="Times New Roman"/>
            </a:endParaRPr>
          </a:p>
          <a:p>
            <a:pPr indent="0" lvl="0" marL="457200" rtl="0" algn="l">
              <a:spcBef>
                <a:spcPts val="0"/>
              </a:spcBef>
              <a:spcAft>
                <a:spcPts val="1200"/>
              </a:spcAft>
              <a:buNone/>
            </a:pPr>
            <a:r>
              <a:t/>
            </a:r>
            <a:endParaRPr sz="1300">
              <a:solidFill>
                <a:schemeClr val="dk1"/>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Times New Roman"/>
                <a:ea typeface="Times New Roman"/>
                <a:cs typeface="Times New Roman"/>
                <a:sym typeface="Times New Roman"/>
              </a:rPr>
              <a:t>Dataset Overview:-</a:t>
            </a:r>
            <a:endParaRPr>
              <a:latin typeface="Times New Roman"/>
              <a:ea typeface="Times New Roman"/>
              <a:cs typeface="Times New Roman"/>
              <a:sym typeface="Times New Roman"/>
            </a:endParaRPr>
          </a:p>
        </p:txBody>
      </p:sp>
      <p:pic>
        <p:nvPicPr>
          <p:cNvPr id="67" name="Google Shape;67;p15"/>
          <p:cNvPicPr preferRelativeResize="0"/>
          <p:nvPr/>
        </p:nvPicPr>
        <p:blipFill>
          <a:blip r:embed="rId3">
            <a:alphaModFix/>
          </a:blip>
          <a:stretch>
            <a:fillRect/>
          </a:stretch>
        </p:blipFill>
        <p:spPr>
          <a:xfrm>
            <a:off x="759850" y="1167688"/>
            <a:ext cx="2939450" cy="2578950"/>
          </a:xfrm>
          <a:prstGeom prst="rect">
            <a:avLst/>
          </a:prstGeom>
          <a:noFill/>
          <a:ln>
            <a:noFill/>
          </a:ln>
        </p:spPr>
      </p:pic>
      <p:pic>
        <p:nvPicPr>
          <p:cNvPr id="68" name="Google Shape;68;p15"/>
          <p:cNvPicPr preferRelativeResize="0"/>
          <p:nvPr/>
        </p:nvPicPr>
        <p:blipFill>
          <a:blip r:embed="rId4">
            <a:alphaModFix/>
          </a:blip>
          <a:stretch>
            <a:fillRect/>
          </a:stretch>
        </p:blipFill>
        <p:spPr>
          <a:xfrm>
            <a:off x="4624550" y="1211750"/>
            <a:ext cx="3315800" cy="2490825"/>
          </a:xfrm>
          <a:prstGeom prst="rect">
            <a:avLst/>
          </a:prstGeom>
          <a:noFill/>
          <a:ln>
            <a:noFill/>
          </a:ln>
        </p:spPr>
      </p:pic>
      <p:sp>
        <p:nvSpPr>
          <p:cNvPr id="69" name="Google Shape;69;p15"/>
          <p:cNvSpPr txBox="1"/>
          <p:nvPr/>
        </p:nvSpPr>
        <p:spPr>
          <a:xfrm>
            <a:off x="613725" y="3896600"/>
            <a:ext cx="7734600" cy="974100"/>
          </a:xfrm>
          <a:prstGeom prst="rect">
            <a:avLst/>
          </a:prstGeom>
          <a:noFill/>
          <a:ln>
            <a:noFill/>
          </a:ln>
        </p:spPr>
        <p:txBody>
          <a:bodyPr anchorCtr="0" anchor="t" bIns="91425" lIns="91425" spcFirstLastPara="1" rIns="91425" wrap="square" tIns="91425">
            <a:noAutofit/>
          </a:bodyPr>
          <a:lstStyle/>
          <a:p>
            <a:pPr indent="-311150" lvl="0" marL="457200" rtl="0" algn="l">
              <a:spcBef>
                <a:spcPts val="0"/>
              </a:spcBef>
              <a:spcAft>
                <a:spcPts val="0"/>
              </a:spcAft>
              <a:buClr>
                <a:schemeClr val="dk2"/>
              </a:buClr>
              <a:buSzPts val="1300"/>
              <a:buFont typeface="Times New Roman"/>
              <a:buChar char="●"/>
            </a:pPr>
            <a:r>
              <a:rPr b="1" lang="en" sz="1300">
                <a:solidFill>
                  <a:schemeClr val="dk2"/>
                </a:solidFill>
                <a:latin typeface="Times New Roman"/>
                <a:ea typeface="Times New Roman"/>
                <a:cs typeface="Times New Roman"/>
                <a:sym typeface="Times New Roman"/>
              </a:rPr>
              <a:t>31,668 users • 38,048 items • 1.23M interactions, but 99.9% sparse — most user–item pairs have no interaction.</a:t>
            </a:r>
            <a:endParaRPr b="1" sz="1300">
              <a:solidFill>
                <a:schemeClr val="dk2"/>
              </a:solidFill>
              <a:latin typeface="Times New Roman"/>
              <a:ea typeface="Times New Roman"/>
              <a:cs typeface="Times New Roman"/>
              <a:sym typeface="Times New Roman"/>
            </a:endParaRPr>
          </a:p>
          <a:p>
            <a:pPr indent="-311150" lvl="0" marL="457200" rtl="0" algn="l">
              <a:spcBef>
                <a:spcPts val="0"/>
              </a:spcBef>
              <a:spcAft>
                <a:spcPts val="0"/>
              </a:spcAft>
              <a:buClr>
                <a:schemeClr val="dk2"/>
              </a:buClr>
              <a:buSzPts val="1300"/>
              <a:buFont typeface="Times New Roman"/>
              <a:buChar char="●"/>
            </a:pPr>
            <a:r>
              <a:rPr b="1" lang="en" sz="1300">
                <a:solidFill>
                  <a:schemeClr val="dk2"/>
                </a:solidFill>
                <a:latin typeface="Times New Roman"/>
                <a:ea typeface="Times New Roman"/>
                <a:cs typeface="Times New Roman"/>
                <a:sym typeface="Times New Roman"/>
              </a:rPr>
              <a:t>Users interact with very few items, while a small number of items are extremely popular → long-tail distribution.</a:t>
            </a:r>
            <a:endParaRPr b="1" sz="1300">
              <a:solidFill>
                <a:schemeClr val="dk2"/>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6"/>
          <p:cNvSpPr txBox="1"/>
          <p:nvPr>
            <p:ph type="title"/>
          </p:nvPr>
        </p:nvSpPr>
        <p:spPr>
          <a:xfrm>
            <a:off x="2665750" y="42850"/>
            <a:ext cx="30411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Algorithms Selected</a:t>
            </a:r>
            <a:endParaRPr/>
          </a:p>
        </p:txBody>
      </p:sp>
      <p:sp>
        <p:nvSpPr>
          <p:cNvPr id="75" name="Google Shape;75;p16"/>
          <p:cNvSpPr/>
          <p:nvPr/>
        </p:nvSpPr>
        <p:spPr>
          <a:xfrm>
            <a:off x="168125" y="1103050"/>
            <a:ext cx="2885700" cy="3894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just">
              <a:lnSpc>
                <a:spcPct val="115000"/>
              </a:lnSpc>
              <a:spcBef>
                <a:spcPts val="1200"/>
              </a:spcBef>
              <a:spcAft>
                <a:spcPts val="0"/>
              </a:spcAft>
              <a:buClr>
                <a:schemeClr val="dk1"/>
              </a:buClr>
              <a:buSzPts val="1100"/>
              <a:buFont typeface="Arial"/>
              <a:buNone/>
            </a:pPr>
            <a:r>
              <a:rPr lang="en" sz="1000">
                <a:solidFill>
                  <a:schemeClr val="dk1"/>
                </a:solidFill>
                <a:latin typeface="Times New Roman"/>
                <a:ea typeface="Times New Roman"/>
                <a:cs typeface="Times New Roman"/>
                <a:sym typeface="Times New Roman"/>
              </a:rPr>
              <a:t>LightGCN is a lightweight graph-based collaborative filtering model. It was selected because it effectively captures multi-hop user–item relationships while remaining computationally efficient. It is particularly well-suited to sparse datasets due to its propagation-based embedding refinement.</a:t>
            </a:r>
            <a:endParaRPr sz="1000">
              <a:solidFill>
                <a:schemeClr val="dk1"/>
              </a:solidFill>
              <a:latin typeface="Times New Roman"/>
              <a:ea typeface="Times New Roman"/>
              <a:cs typeface="Times New Roman"/>
              <a:sym typeface="Times New Roman"/>
            </a:endParaRPr>
          </a:p>
          <a:p>
            <a:pPr indent="0" lvl="0" marL="0" rtl="0" algn="just">
              <a:lnSpc>
                <a:spcPct val="115000"/>
              </a:lnSpc>
              <a:spcBef>
                <a:spcPts val="1200"/>
              </a:spcBef>
              <a:spcAft>
                <a:spcPts val="0"/>
              </a:spcAft>
              <a:buClr>
                <a:schemeClr val="dk1"/>
              </a:buClr>
              <a:buSzPts val="1100"/>
              <a:buFont typeface="Arial"/>
              <a:buNone/>
            </a:pPr>
            <a:r>
              <a:rPr b="1" lang="en" sz="1000">
                <a:solidFill>
                  <a:schemeClr val="dk1"/>
                </a:solidFill>
                <a:latin typeface="Times New Roman"/>
                <a:ea typeface="Times New Roman"/>
                <a:cs typeface="Times New Roman"/>
                <a:sym typeface="Times New Roman"/>
              </a:rPr>
              <a:t>Why selected:</a:t>
            </a:r>
            <a:endParaRPr b="1" sz="1000">
              <a:solidFill>
                <a:schemeClr val="dk1"/>
              </a:solidFill>
              <a:latin typeface="Times New Roman"/>
              <a:ea typeface="Times New Roman"/>
              <a:cs typeface="Times New Roman"/>
              <a:sym typeface="Times New Roman"/>
            </a:endParaRPr>
          </a:p>
          <a:p>
            <a:pPr indent="-292100" lvl="0" marL="457200" rtl="0" algn="just">
              <a:lnSpc>
                <a:spcPct val="115000"/>
              </a:lnSpc>
              <a:spcBef>
                <a:spcPts val="1200"/>
              </a:spcBef>
              <a:spcAft>
                <a:spcPts val="0"/>
              </a:spcAft>
              <a:buClr>
                <a:schemeClr val="dk1"/>
              </a:buClr>
              <a:buSzPts val="1000"/>
              <a:buFont typeface="Times New Roman"/>
              <a:buChar char="●"/>
            </a:pPr>
            <a:r>
              <a:rPr lang="en" sz="1000">
                <a:solidFill>
                  <a:schemeClr val="dk1"/>
                </a:solidFill>
                <a:latin typeface="Times New Roman"/>
                <a:ea typeface="Times New Roman"/>
                <a:cs typeface="Times New Roman"/>
                <a:sym typeface="Times New Roman"/>
              </a:rPr>
              <a:t>Designed specifically for implicit-feedback recommendation</a:t>
            </a:r>
            <a:endParaRPr sz="1000">
              <a:solidFill>
                <a:schemeClr val="dk1"/>
              </a:solidFill>
              <a:latin typeface="Times New Roman"/>
              <a:ea typeface="Times New Roman"/>
              <a:cs typeface="Times New Roman"/>
              <a:sym typeface="Times New Roman"/>
            </a:endParaRPr>
          </a:p>
          <a:p>
            <a:pPr indent="-292100" lvl="0" marL="457200" rtl="0" algn="just">
              <a:lnSpc>
                <a:spcPct val="115000"/>
              </a:lnSpc>
              <a:spcBef>
                <a:spcPts val="0"/>
              </a:spcBef>
              <a:spcAft>
                <a:spcPts val="0"/>
              </a:spcAft>
              <a:buClr>
                <a:schemeClr val="dk1"/>
              </a:buClr>
              <a:buSzPts val="1000"/>
              <a:buFont typeface="Times New Roman"/>
              <a:buChar char="●"/>
            </a:pPr>
            <a:r>
              <a:rPr lang="en" sz="1000">
                <a:solidFill>
                  <a:schemeClr val="dk1"/>
                </a:solidFill>
                <a:latin typeface="Times New Roman"/>
                <a:ea typeface="Times New Roman"/>
                <a:cs typeface="Times New Roman"/>
                <a:sym typeface="Times New Roman"/>
              </a:rPr>
              <a:t>Performs well on sparse user–item matrices</a:t>
            </a:r>
            <a:endParaRPr sz="1000">
              <a:solidFill>
                <a:schemeClr val="dk1"/>
              </a:solidFill>
              <a:latin typeface="Times New Roman"/>
              <a:ea typeface="Times New Roman"/>
              <a:cs typeface="Times New Roman"/>
              <a:sym typeface="Times New Roman"/>
            </a:endParaRPr>
          </a:p>
          <a:p>
            <a:pPr indent="-292100" lvl="0" marL="457200" rtl="0" algn="just">
              <a:lnSpc>
                <a:spcPct val="115000"/>
              </a:lnSpc>
              <a:spcBef>
                <a:spcPts val="0"/>
              </a:spcBef>
              <a:spcAft>
                <a:spcPts val="0"/>
              </a:spcAft>
              <a:buClr>
                <a:schemeClr val="dk1"/>
              </a:buClr>
              <a:buSzPts val="1000"/>
              <a:buFont typeface="Times New Roman"/>
              <a:buChar char="●"/>
            </a:pPr>
            <a:r>
              <a:rPr lang="en" sz="1000">
                <a:solidFill>
                  <a:schemeClr val="dk1"/>
                </a:solidFill>
                <a:latin typeface="Times New Roman"/>
                <a:ea typeface="Times New Roman"/>
                <a:cs typeface="Times New Roman"/>
                <a:sym typeface="Times New Roman"/>
              </a:rPr>
              <a:t>Scales smoothly to large datasets</a:t>
            </a:r>
            <a:endParaRPr sz="1000">
              <a:solidFill>
                <a:schemeClr val="dk1"/>
              </a:solidFill>
              <a:latin typeface="Times New Roman"/>
              <a:ea typeface="Times New Roman"/>
              <a:cs typeface="Times New Roman"/>
              <a:sym typeface="Times New Roman"/>
            </a:endParaRPr>
          </a:p>
          <a:p>
            <a:pPr indent="-292100" lvl="0" marL="457200" rtl="0" algn="just">
              <a:lnSpc>
                <a:spcPct val="115000"/>
              </a:lnSpc>
              <a:spcBef>
                <a:spcPts val="0"/>
              </a:spcBef>
              <a:spcAft>
                <a:spcPts val="0"/>
              </a:spcAft>
              <a:buClr>
                <a:schemeClr val="dk1"/>
              </a:buClr>
              <a:buSzPts val="1000"/>
              <a:buFont typeface="Times New Roman"/>
              <a:buChar char="●"/>
            </a:pPr>
            <a:r>
              <a:rPr lang="en" sz="1000">
                <a:solidFill>
                  <a:schemeClr val="dk1"/>
                </a:solidFill>
                <a:latin typeface="Times New Roman"/>
                <a:ea typeface="Times New Roman"/>
                <a:cs typeface="Times New Roman"/>
                <a:sym typeface="Times New Roman"/>
              </a:rPr>
              <a:t>Provides strong baseline performance without heavy neural components</a:t>
            </a:r>
            <a:endParaRPr sz="1000">
              <a:solidFill>
                <a:schemeClr val="dk1"/>
              </a:solidFill>
              <a:latin typeface="Times New Roman"/>
              <a:ea typeface="Times New Roman"/>
              <a:cs typeface="Times New Roman"/>
              <a:sym typeface="Times New Roman"/>
            </a:endParaRPr>
          </a:p>
          <a:p>
            <a:pPr indent="0" lvl="0" marL="0" marR="187678" rtl="0" algn="just">
              <a:spcBef>
                <a:spcPts val="1200"/>
              </a:spcBef>
              <a:spcAft>
                <a:spcPts val="0"/>
              </a:spcAft>
              <a:buNone/>
            </a:pPr>
            <a:r>
              <a:t/>
            </a:r>
            <a:endParaRPr/>
          </a:p>
        </p:txBody>
      </p:sp>
      <p:sp>
        <p:nvSpPr>
          <p:cNvPr id="76" name="Google Shape;76;p16"/>
          <p:cNvSpPr/>
          <p:nvPr/>
        </p:nvSpPr>
        <p:spPr>
          <a:xfrm>
            <a:off x="3129150" y="1103050"/>
            <a:ext cx="2885700" cy="3894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just">
              <a:lnSpc>
                <a:spcPct val="115000"/>
              </a:lnSpc>
              <a:spcBef>
                <a:spcPts val="1200"/>
              </a:spcBef>
              <a:spcAft>
                <a:spcPts val="0"/>
              </a:spcAft>
              <a:buNone/>
            </a:pPr>
            <a:r>
              <a:rPr lang="en" sz="1000">
                <a:latin typeface="Times New Roman"/>
                <a:ea typeface="Times New Roman"/>
                <a:cs typeface="Times New Roman"/>
                <a:sym typeface="Times New Roman"/>
              </a:rPr>
              <a:t>ALS (Alternating Least Squares) is a latent factor model used for implicit-feedback recommendation. ALS is efficient on large, sparse datasets and offers stable, predictable performance. It generalizes beyond surface-level similarities by uncovering hidden preference patterns in the interaction matrix.</a:t>
            </a:r>
            <a:endParaRPr sz="1000">
              <a:latin typeface="Times New Roman"/>
              <a:ea typeface="Times New Roman"/>
              <a:cs typeface="Times New Roman"/>
              <a:sym typeface="Times New Roman"/>
            </a:endParaRPr>
          </a:p>
          <a:p>
            <a:pPr indent="0" lvl="0" marL="0" rtl="0" algn="just">
              <a:lnSpc>
                <a:spcPct val="115000"/>
              </a:lnSpc>
              <a:spcBef>
                <a:spcPts val="1200"/>
              </a:spcBef>
              <a:spcAft>
                <a:spcPts val="0"/>
              </a:spcAft>
              <a:buNone/>
            </a:pPr>
            <a:r>
              <a:rPr b="1" lang="en" sz="1000">
                <a:latin typeface="Times New Roman"/>
                <a:ea typeface="Times New Roman"/>
                <a:cs typeface="Times New Roman"/>
                <a:sym typeface="Times New Roman"/>
              </a:rPr>
              <a:t>Why selected:</a:t>
            </a:r>
            <a:endParaRPr b="1" sz="1000">
              <a:latin typeface="Times New Roman"/>
              <a:ea typeface="Times New Roman"/>
              <a:cs typeface="Times New Roman"/>
              <a:sym typeface="Times New Roman"/>
            </a:endParaRPr>
          </a:p>
          <a:p>
            <a:pPr indent="-292100" lvl="0" marL="457200" rtl="0" algn="just">
              <a:lnSpc>
                <a:spcPct val="115000"/>
              </a:lnSpc>
              <a:spcBef>
                <a:spcPts val="1200"/>
              </a:spcBef>
              <a:spcAft>
                <a:spcPts val="0"/>
              </a:spcAft>
              <a:buSzPts val="1000"/>
              <a:buFont typeface="Times New Roman"/>
              <a:buChar char="●"/>
            </a:pPr>
            <a:r>
              <a:rPr lang="en" sz="1000">
                <a:latin typeface="Times New Roman"/>
                <a:ea typeface="Times New Roman"/>
                <a:cs typeface="Times New Roman"/>
                <a:sym typeface="Times New Roman"/>
              </a:rPr>
              <a:t>Well-suited for implicit-feedback data (confidence-weighted factorization)</a:t>
            </a:r>
            <a:endParaRPr sz="1000">
              <a:latin typeface="Times New Roman"/>
              <a:ea typeface="Times New Roman"/>
              <a:cs typeface="Times New Roman"/>
              <a:sym typeface="Times New Roman"/>
            </a:endParaRPr>
          </a:p>
          <a:p>
            <a:pPr indent="-292100" lvl="0" marL="457200" rtl="0" algn="just">
              <a:lnSpc>
                <a:spcPct val="115000"/>
              </a:lnSpc>
              <a:spcBef>
                <a:spcPts val="0"/>
              </a:spcBef>
              <a:spcAft>
                <a:spcPts val="0"/>
              </a:spcAft>
              <a:buSzPts val="1000"/>
              <a:buFont typeface="Times New Roman"/>
              <a:buChar char="●"/>
            </a:pPr>
            <a:r>
              <a:rPr lang="en" sz="1000">
                <a:latin typeface="Times New Roman"/>
                <a:ea typeface="Times New Roman"/>
                <a:cs typeface="Times New Roman"/>
                <a:sym typeface="Times New Roman"/>
              </a:rPr>
              <a:t>Handles large, sparse user–item matrices efficiently</a:t>
            </a:r>
            <a:endParaRPr sz="1000">
              <a:latin typeface="Times New Roman"/>
              <a:ea typeface="Times New Roman"/>
              <a:cs typeface="Times New Roman"/>
              <a:sym typeface="Times New Roman"/>
            </a:endParaRPr>
          </a:p>
          <a:p>
            <a:pPr indent="-292100" lvl="0" marL="457200" rtl="0" algn="just">
              <a:lnSpc>
                <a:spcPct val="115000"/>
              </a:lnSpc>
              <a:spcBef>
                <a:spcPts val="0"/>
              </a:spcBef>
              <a:spcAft>
                <a:spcPts val="0"/>
              </a:spcAft>
              <a:buSzPts val="1000"/>
              <a:buFont typeface="Times New Roman"/>
              <a:buChar char="●"/>
            </a:pPr>
            <a:r>
              <a:rPr lang="en" sz="1000">
                <a:latin typeface="Times New Roman"/>
                <a:ea typeface="Times New Roman"/>
                <a:cs typeface="Times New Roman"/>
                <a:sym typeface="Times New Roman"/>
              </a:rPr>
              <a:t>Learns latent behavioral patterns beyond direct co-occurrences</a:t>
            </a:r>
            <a:endParaRPr sz="1000">
              <a:latin typeface="Times New Roman"/>
              <a:ea typeface="Times New Roman"/>
              <a:cs typeface="Times New Roman"/>
              <a:sym typeface="Times New Roman"/>
            </a:endParaRPr>
          </a:p>
          <a:p>
            <a:pPr indent="-292100" lvl="0" marL="457200" rtl="0" algn="just">
              <a:lnSpc>
                <a:spcPct val="115000"/>
              </a:lnSpc>
              <a:spcBef>
                <a:spcPts val="0"/>
              </a:spcBef>
              <a:spcAft>
                <a:spcPts val="0"/>
              </a:spcAft>
              <a:buSzPts val="1000"/>
              <a:buFont typeface="Times New Roman"/>
              <a:buChar char="●"/>
            </a:pPr>
            <a:r>
              <a:rPr lang="en" sz="1000">
                <a:latin typeface="Times New Roman"/>
                <a:ea typeface="Times New Roman"/>
                <a:cs typeface="Times New Roman"/>
                <a:sym typeface="Times New Roman"/>
              </a:rPr>
              <a:t>Provides strong, stable performance with straightforward tuning</a:t>
            </a:r>
            <a:endParaRPr sz="1000">
              <a:latin typeface="Times New Roman"/>
              <a:ea typeface="Times New Roman"/>
              <a:cs typeface="Times New Roman"/>
              <a:sym typeface="Times New Roman"/>
            </a:endParaRPr>
          </a:p>
          <a:p>
            <a:pPr indent="0" lvl="0" marL="0" marR="187678" rtl="0" algn="just">
              <a:spcBef>
                <a:spcPts val="1200"/>
              </a:spcBef>
              <a:spcAft>
                <a:spcPts val="0"/>
              </a:spcAft>
              <a:buClr>
                <a:schemeClr val="dk1"/>
              </a:buClr>
              <a:buSzPts val="1100"/>
              <a:buFont typeface="Arial"/>
              <a:buNone/>
            </a:pPr>
            <a:r>
              <a:t/>
            </a:r>
            <a:endParaRPr sz="1000">
              <a:solidFill>
                <a:schemeClr val="dk1"/>
              </a:solidFill>
              <a:latin typeface="Times New Roman"/>
              <a:ea typeface="Times New Roman"/>
              <a:cs typeface="Times New Roman"/>
              <a:sym typeface="Times New Roman"/>
            </a:endParaRPr>
          </a:p>
        </p:txBody>
      </p:sp>
      <p:sp>
        <p:nvSpPr>
          <p:cNvPr id="77" name="Google Shape;77;p16"/>
          <p:cNvSpPr/>
          <p:nvPr/>
        </p:nvSpPr>
        <p:spPr>
          <a:xfrm>
            <a:off x="6090175" y="1103050"/>
            <a:ext cx="2990400" cy="3894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just">
              <a:lnSpc>
                <a:spcPct val="115000"/>
              </a:lnSpc>
              <a:spcBef>
                <a:spcPts val="1200"/>
              </a:spcBef>
              <a:spcAft>
                <a:spcPts val="0"/>
              </a:spcAft>
              <a:buNone/>
            </a:pPr>
            <a:r>
              <a:rPr lang="en" sz="1000">
                <a:solidFill>
                  <a:schemeClr val="dk1"/>
                </a:solidFill>
                <a:latin typeface="Times New Roman"/>
                <a:ea typeface="Times New Roman"/>
                <a:cs typeface="Times New Roman"/>
                <a:sym typeface="Times New Roman"/>
              </a:rPr>
              <a:t>High sparsity → few common items → similarity is weak or unreliable. Implicit feedback noise → equal weight for all interactions leads to poor neighbor matching. Cold-start issues for users/items with few interactions. Cannot learn deep representations — relies only on surface-level similarity.</a:t>
            </a:r>
            <a:endParaRPr sz="1000">
              <a:solidFill>
                <a:schemeClr val="dk1"/>
              </a:solidFill>
              <a:latin typeface="Times New Roman"/>
              <a:ea typeface="Times New Roman"/>
              <a:cs typeface="Times New Roman"/>
              <a:sym typeface="Times New Roman"/>
            </a:endParaRPr>
          </a:p>
          <a:p>
            <a:pPr indent="0" lvl="0" marL="0" rtl="0" algn="just">
              <a:lnSpc>
                <a:spcPct val="115000"/>
              </a:lnSpc>
              <a:spcBef>
                <a:spcPts val="1200"/>
              </a:spcBef>
              <a:spcAft>
                <a:spcPts val="0"/>
              </a:spcAft>
              <a:buNone/>
            </a:pPr>
            <a:r>
              <a:rPr b="1" lang="en" sz="1000">
                <a:solidFill>
                  <a:schemeClr val="dk1"/>
                </a:solidFill>
                <a:latin typeface="Times New Roman"/>
                <a:ea typeface="Times New Roman"/>
                <a:cs typeface="Times New Roman"/>
                <a:sym typeface="Times New Roman"/>
              </a:rPr>
              <a:t>Why selected: </a:t>
            </a:r>
            <a:endParaRPr b="1" sz="1000">
              <a:solidFill>
                <a:schemeClr val="dk1"/>
              </a:solidFill>
              <a:latin typeface="Times New Roman"/>
              <a:ea typeface="Times New Roman"/>
              <a:cs typeface="Times New Roman"/>
              <a:sym typeface="Times New Roman"/>
            </a:endParaRPr>
          </a:p>
          <a:p>
            <a:pPr indent="-292100" lvl="0" marL="457200" rtl="0" algn="just">
              <a:lnSpc>
                <a:spcPct val="115000"/>
              </a:lnSpc>
              <a:spcBef>
                <a:spcPts val="1200"/>
              </a:spcBef>
              <a:spcAft>
                <a:spcPts val="0"/>
              </a:spcAft>
              <a:buClr>
                <a:schemeClr val="dk1"/>
              </a:buClr>
              <a:buSzPts val="1000"/>
              <a:buFont typeface="Times New Roman"/>
              <a:buChar char="●"/>
            </a:pPr>
            <a:r>
              <a:rPr lang="en" sz="1000">
                <a:solidFill>
                  <a:schemeClr val="dk1"/>
                </a:solidFill>
                <a:latin typeface="Times New Roman"/>
                <a:ea typeface="Times New Roman"/>
                <a:cs typeface="Times New Roman"/>
                <a:sym typeface="Times New Roman"/>
              </a:rPr>
              <a:t>It matches the dataset’s structure (pure implicit, no item features). </a:t>
            </a:r>
            <a:endParaRPr sz="1000">
              <a:solidFill>
                <a:schemeClr val="dk1"/>
              </a:solidFill>
              <a:latin typeface="Times New Roman"/>
              <a:ea typeface="Times New Roman"/>
              <a:cs typeface="Times New Roman"/>
              <a:sym typeface="Times New Roman"/>
            </a:endParaRPr>
          </a:p>
          <a:p>
            <a:pPr indent="-292100" lvl="0" marL="457200" rtl="0" algn="just">
              <a:lnSpc>
                <a:spcPct val="115000"/>
              </a:lnSpc>
              <a:spcBef>
                <a:spcPts val="0"/>
              </a:spcBef>
              <a:spcAft>
                <a:spcPts val="0"/>
              </a:spcAft>
              <a:buClr>
                <a:schemeClr val="dk1"/>
              </a:buClr>
              <a:buSzPts val="1000"/>
              <a:buFont typeface="Times New Roman"/>
              <a:buChar char="●"/>
            </a:pPr>
            <a:r>
              <a:rPr lang="en" sz="1000">
                <a:solidFill>
                  <a:schemeClr val="dk1"/>
                </a:solidFill>
                <a:latin typeface="Times New Roman"/>
                <a:ea typeface="Times New Roman"/>
                <a:cs typeface="Times New Roman"/>
                <a:sym typeface="Times New Roman"/>
              </a:rPr>
              <a:t>It provides interpretable baselines. </a:t>
            </a:r>
            <a:endParaRPr sz="1000">
              <a:solidFill>
                <a:schemeClr val="dk1"/>
              </a:solidFill>
              <a:latin typeface="Times New Roman"/>
              <a:ea typeface="Times New Roman"/>
              <a:cs typeface="Times New Roman"/>
              <a:sym typeface="Times New Roman"/>
            </a:endParaRPr>
          </a:p>
          <a:p>
            <a:pPr indent="-292100" lvl="0" marL="457200" rtl="0" algn="just">
              <a:lnSpc>
                <a:spcPct val="115000"/>
              </a:lnSpc>
              <a:spcBef>
                <a:spcPts val="0"/>
              </a:spcBef>
              <a:spcAft>
                <a:spcPts val="0"/>
              </a:spcAft>
              <a:buClr>
                <a:schemeClr val="dk1"/>
              </a:buClr>
              <a:buSzPts val="1000"/>
              <a:buFont typeface="Times New Roman"/>
              <a:buChar char="●"/>
            </a:pPr>
            <a:r>
              <a:rPr lang="en" sz="1000">
                <a:solidFill>
                  <a:schemeClr val="dk1"/>
                </a:solidFill>
                <a:latin typeface="Times New Roman"/>
                <a:ea typeface="Times New Roman"/>
                <a:cs typeface="Times New Roman"/>
                <a:sym typeface="Times New Roman"/>
              </a:rPr>
              <a:t>It allows to test both classical similarity models and modern approaches. </a:t>
            </a:r>
            <a:endParaRPr sz="1000">
              <a:solidFill>
                <a:schemeClr val="dk1"/>
              </a:solidFill>
              <a:latin typeface="Times New Roman"/>
              <a:ea typeface="Times New Roman"/>
              <a:cs typeface="Times New Roman"/>
              <a:sym typeface="Times New Roman"/>
            </a:endParaRPr>
          </a:p>
          <a:p>
            <a:pPr indent="-292100" lvl="0" marL="457200" rtl="0" algn="just">
              <a:lnSpc>
                <a:spcPct val="115000"/>
              </a:lnSpc>
              <a:spcBef>
                <a:spcPts val="0"/>
              </a:spcBef>
              <a:spcAft>
                <a:spcPts val="0"/>
              </a:spcAft>
              <a:buClr>
                <a:schemeClr val="dk1"/>
              </a:buClr>
              <a:buSzPts val="1000"/>
              <a:buFont typeface="Times New Roman"/>
              <a:buChar char="●"/>
            </a:pPr>
            <a:r>
              <a:rPr lang="en" sz="1000">
                <a:solidFill>
                  <a:schemeClr val="dk1"/>
                </a:solidFill>
                <a:latin typeface="Times New Roman"/>
                <a:ea typeface="Times New Roman"/>
                <a:cs typeface="Times New Roman"/>
                <a:sym typeface="Times New Roman"/>
              </a:rPr>
              <a:t>It helps analyze how simple vs. sophisticated approaches behave under sparsity</a:t>
            </a:r>
            <a:endParaRPr sz="1000">
              <a:solidFill>
                <a:schemeClr val="dk1"/>
              </a:solidFill>
              <a:latin typeface="Times New Roman"/>
              <a:ea typeface="Times New Roman"/>
              <a:cs typeface="Times New Roman"/>
              <a:sym typeface="Times New Roman"/>
            </a:endParaRPr>
          </a:p>
          <a:p>
            <a:pPr indent="0" lvl="0" marL="0" marR="187678" rtl="0" algn="just">
              <a:spcBef>
                <a:spcPts val="1200"/>
              </a:spcBef>
              <a:spcAft>
                <a:spcPts val="0"/>
              </a:spcAft>
              <a:buClr>
                <a:schemeClr val="dk1"/>
              </a:buClr>
              <a:buSzPts val="1100"/>
              <a:buFont typeface="Arial"/>
              <a:buNone/>
            </a:pPr>
            <a:r>
              <a:t/>
            </a:r>
            <a:endParaRPr>
              <a:solidFill>
                <a:schemeClr val="dk1"/>
              </a:solidFill>
            </a:endParaRPr>
          </a:p>
        </p:txBody>
      </p:sp>
      <p:sp>
        <p:nvSpPr>
          <p:cNvPr id="78" name="Google Shape;78;p16"/>
          <p:cNvSpPr txBox="1"/>
          <p:nvPr/>
        </p:nvSpPr>
        <p:spPr>
          <a:xfrm>
            <a:off x="372725" y="651500"/>
            <a:ext cx="2201400" cy="359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dk1"/>
                </a:solidFill>
              </a:rPr>
              <a:t>LightGCN</a:t>
            </a:r>
            <a:endParaRPr sz="1800">
              <a:solidFill>
                <a:schemeClr val="dk1"/>
              </a:solidFill>
            </a:endParaRPr>
          </a:p>
        </p:txBody>
      </p:sp>
      <p:sp>
        <p:nvSpPr>
          <p:cNvPr id="79" name="Google Shape;79;p16"/>
          <p:cNvSpPr txBox="1"/>
          <p:nvPr/>
        </p:nvSpPr>
        <p:spPr>
          <a:xfrm>
            <a:off x="3471300" y="679450"/>
            <a:ext cx="2201400" cy="359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dk1"/>
                </a:solidFill>
              </a:rPr>
              <a:t>ALS</a:t>
            </a:r>
            <a:endParaRPr sz="1800">
              <a:solidFill>
                <a:schemeClr val="dk1"/>
              </a:solidFill>
            </a:endParaRPr>
          </a:p>
        </p:txBody>
      </p:sp>
      <p:sp>
        <p:nvSpPr>
          <p:cNvPr id="80" name="Google Shape;80;p16"/>
          <p:cNvSpPr txBox="1"/>
          <p:nvPr/>
        </p:nvSpPr>
        <p:spPr>
          <a:xfrm>
            <a:off x="6569875" y="651500"/>
            <a:ext cx="2201400" cy="359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dk1"/>
                </a:solidFill>
              </a:rPr>
              <a:t>CF</a:t>
            </a:r>
            <a:endParaRPr sz="180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7"/>
          <p:cNvSpPr txBox="1"/>
          <p:nvPr>
            <p:ph type="title"/>
          </p:nvPr>
        </p:nvSpPr>
        <p:spPr>
          <a:xfrm>
            <a:off x="190775" y="477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LightGCN</a:t>
            </a:r>
            <a:endParaRPr/>
          </a:p>
        </p:txBody>
      </p:sp>
      <p:sp>
        <p:nvSpPr>
          <p:cNvPr id="86" name="Google Shape;86;p17"/>
          <p:cNvSpPr txBox="1"/>
          <p:nvPr>
            <p:ph idx="1" type="body"/>
          </p:nvPr>
        </p:nvSpPr>
        <p:spPr>
          <a:xfrm>
            <a:off x="151225" y="565200"/>
            <a:ext cx="4580400" cy="4578300"/>
          </a:xfrm>
          <a:prstGeom prst="rect">
            <a:avLst/>
          </a:prstGeom>
        </p:spPr>
        <p:txBody>
          <a:bodyPr anchorCtr="0" anchor="t" bIns="91425" lIns="91425" spcFirstLastPara="1" rIns="91425" wrap="square" tIns="91425">
            <a:noAutofit/>
          </a:bodyPr>
          <a:lstStyle/>
          <a:p>
            <a:pPr indent="0" lvl="0" marL="0" rtl="0" algn="just">
              <a:lnSpc>
                <a:spcPct val="80000"/>
              </a:lnSpc>
              <a:spcBef>
                <a:spcPts val="1200"/>
              </a:spcBef>
              <a:spcAft>
                <a:spcPts val="0"/>
              </a:spcAft>
              <a:buClr>
                <a:schemeClr val="dk1"/>
              </a:buClr>
              <a:buSzPts val="275"/>
              <a:buFont typeface="Arial"/>
              <a:buNone/>
            </a:pPr>
            <a:r>
              <a:rPr b="1" lang="en" sz="1300">
                <a:solidFill>
                  <a:schemeClr val="dk1"/>
                </a:solidFill>
                <a:latin typeface="Times New Roman"/>
                <a:ea typeface="Times New Roman"/>
                <a:cs typeface="Times New Roman"/>
                <a:sym typeface="Times New Roman"/>
              </a:rPr>
              <a:t>Approach:</a:t>
            </a:r>
            <a:endParaRPr b="1" sz="1300">
              <a:solidFill>
                <a:schemeClr val="dk1"/>
              </a:solidFill>
              <a:latin typeface="Times New Roman"/>
              <a:ea typeface="Times New Roman"/>
              <a:cs typeface="Times New Roman"/>
              <a:sym typeface="Times New Roman"/>
            </a:endParaRPr>
          </a:p>
          <a:p>
            <a:pPr indent="-311150" lvl="0" marL="457200" rtl="0" algn="just">
              <a:lnSpc>
                <a:spcPct val="80000"/>
              </a:lnSpc>
              <a:spcBef>
                <a:spcPts val="1200"/>
              </a:spcBef>
              <a:spcAft>
                <a:spcPts val="0"/>
              </a:spcAft>
              <a:buClr>
                <a:schemeClr val="dk1"/>
              </a:buClr>
              <a:buSzPts val="1300"/>
              <a:buFont typeface="Times New Roman"/>
              <a:buAutoNum type="arabicPeriod"/>
            </a:pPr>
            <a:r>
              <a:rPr lang="en" sz="1300">
                <a:solidFill>
                  <a:schemeClr val="dk1"/>
                </a:solidFill>
                <a:latin typeface="Times New Roman"/>
                <a:ea typeface="Times New Roman"/>
                <a:cs typeface="Times New Roman"/>
                <a:sym typeface="Times New Roman"/>
              </a:rPr>
              <a:t>Built a user–item graph from interactions</a:t>
            </a:r>
            <a:br>
              <a:rPr lang="en" sz="1300">
                <a:solidFill>
                  <a:schemeClr val="dk1"/>
                </a:solidFill>
                <a:latin typeface="Times New Roman"/>
                <a:ea typeface="Times New Roman"/>
                <a:cs typeface="Times New Roman"/>
                <a:sym typeface="Times New Roman"/>
              </a:rPr>
            </a:br>
            <a:endParaRPr sz="1300">
              <a:solidFill>
                <a:schemeClr val="dk1"/>
              </a:solidFill>
              <a:latin typeface="Times New Roman"/>
              <a:ea typeface="Times New Roman"/>
              <a:cs typeface="Times New Roman"/>
              <a:sym typeface="Times New Roman"/>
            </a:endParaRPr>
          </a:p>
          <a:p>
            <a:pPr indent="-311150" lvl="0" marL="457200" rtl="0" algn="just">
              <a:lnSpc>
                <a:spcPct val="80000"/>
              </a:lnSpc>
              <a:spcBef>
                <a:spcPts val="0"/>
              </a:spcBef>
              <a:spcAft>
                <a:spcPts val="0"/>
              </a:spcAft>
              <a:buClr>
                <a:schemeClr val="dk1"/>
              </a:buClr>
              <a:buSzPts val="1300"/>
              <a:buFont typeface="Times New Roman"/>
              <a:buAutoNum type="arabicPeriod"/>
            </a:pPr>
            <a:r>
              <a:rPr lang="en" sz="1300">
                <a:solidFill>
                  <a:schemeClr val="dk1"/>
                </a:solidFill>
                <a:latin typeface="Times New Roman"/>
                <a:ea typeface="Times New Roman"/>
                <a:cs typeface="Times New Roman"/>
                <a:sym typeface="Times New Roman"/>
              </a:rPr>
              <a:t>Performed layer-wise embedding propagation (neighbors average)</a:t>
            </a:r>
            <a:br>
              <a:rPr lang="en" sz="1300">
                <a:solidFill>
                  <a:schemeClr val="dk1"/>
                </a:solidFill>
                <a:latin typeface="Times New Roman"/>
                <a:ea typeface="Times New Roman"/>
                <a:cs typeface="Times New Roman"/>
                <a:sym typeface="Times New Roman"/>
              </a:rPr>
            </a:br>
            <a:endParaRPr sz="1300">
              <a:solidFill>
                <a:schemeClr val="dk1"/>
              </a:solidFill>
              <a:latin typeface="Times New Roman"/>
              <a:ea typeface="Times New Roman"/>
              <a:cs typeface="Times New Roman"/>
              <a:sym typeface="Times New Roman"/>
            </a:endParaRPr>
          </a:p>
          <a:p>
            <a:pPr indent="-311150" lvl="0" marL="457200" rtl="0" algn="just">
              <a:lnSpc>
                <a:spcPct val="80000"/>
              </a:lnSpc>
              <a:spcBef>
                <a:spcPts val="0"/>
              </a:spcBef>
              <a:spcAft>
                <a:spcPts val="0"/>
              </a:spcAft>
              <a:buClr>
                <a:schemeClr val="dk1"/>
              </a:buClr>
              <a:buSzPts val="1300"/>
              <a:buFont typeface="Times New Roman"/>
              <a:buAutoNum type="arabicPeriod"/>
            </a:pPr>
            <a:r>
              <a:rPr lang="en" sz="1300">
                <a:solidFill>
                  <a:schemeClr val="dk1"/>
                </a:solidFill>
                <a:latin typeface="Times New Roman"/>
                <a:ea typeface="Times New Roman"/>
                <a:cs typeface="Times New Roman"/>
                <a:sym typeface="Times New Roman"/>
              </a:rPr>
              <a:t>Combined embeddings from all layers</a:t>
            </a:r>
            <a:br>
              <a:rPr lang="en" sz="1300">
                <a:solidFill>
                  <a:schemeClr val="dk1"/>
                </a:solidFill>
                <a:latin typeface="Times New Roman"/>
                <a:ea typeface="Times New Roman"/>
                <a:cs typeface="Times New Roman"/>
                <a:sym typeface="Times New Roman"/>
              </a:rPr>
            </a:br>
            <a:endParaRPr sz="1300">
              <a:solidFill>
                <a:schemeClr val="dk1"/>
              </a:solidFill>
              <a:latin typeface="Times New Roman"/>
              <a:ea typeface="Times New Roman"/>
              <a:cs typeface="Times New Roman"/>
              <a:sym typeface="Times New Roman"/>
            </a:endParaRPr>
          </a:p>
          <a:p>
            <a:pPr indent="-311150" lvl="0" marL="457200" rtl="0" algn="just">
              <a:lnSpc>
                <a:spcPct val="80000"/>
              </a:lnSpc>
              <a:spcBef>
                <a:spcPts val="0"/>
              </a:spcBef>
              <a:spcAft>
                <a:spcPts val="0"/>
              </a:spcAft>
              <a:buClr>
                <a:schemeClr val="dk1"/>
              </a:buClr>
              <a:buSzPts val="1300"/>
              <a:buFont typeface="Times New Roman"/>
              <a:buAutoNum type="arabicPeriod"/>
            </a:pPr>
            <a:r>
              <a:rPr lang="en" sz="1300">
                <a:solidFill>
                  <a:schemeClr val="dk1"/>
                </a:solidFill>
                <a:latin typeface="Times New Roman"/>
                <a:ea typeface="Times New Roman"/>
                <a:cs typeface="Times New Roman"/>
                <a:sym typeface="Times New Roman"/>
              </a:rPr>
              <a:t>Predicted relevance using a dot product</a:t>
            </a:r>
            <a:br>
              <a:rPr lang="en" sz="1300">
                <a:solidFill>
                  <a:schemeClr val="dk1"/>
                </a:solidFill>
                <a:latin typeface="Times New Roman"/>
                <a:ea typeface="Times New Roman"/>
                <a:cs typeface="Times New Roman"/>
                <a:sym typeface="Times New Roman"/>
              </a:rPr>
            </a:br>
            <a:endParaRPr sz="1300">
              <a:solidFill>
                <a:schemeClr val="dk1"/>
              </a:solidFill>
              <a:latin typeface="Times New Roman"/>
              <a:ea typeface="Times New Roman"/>
              <a:cs typeface="Times New Roman"/>
              <a:sym typeface="Times New Roman"/>
            </a:endParaRPr>
          </a:p>
          <a:p>
            <a:pPr indent="-311150" lvl="0" marL="457200" rtl="0" algn="just">
              <a:lnSpc>
                <a:spcPct val="80000"/>
              </a:lnSpc>
              <a:spcBef>
                <a:spcPts val="0"/>
              </a:spcBef>
              <a:spcAft>
                <a:spcPts val="0"/>
              </a:spcAft>
              <a:buClr>
                <a:schemeClr val="dk1"/>
              </a:buClr>
              <a:buSzPts val="1300"/>
              <a:buFont typeface="Times New Roman"/>
              <a:buAutoNum type="arabicPeriod"/>
            </a:pPr>
            <a:r>
              <a:rPr lang="en" sz="1300">
                <a:solidFill>
                  <a:schemeClr val="dk1"/>
                </a:solidFill>
                <a:latin typeface="Times New Roman"/>
                <a:ea typeface="Times New Roman"/>
                <a:cs typeface="Times New Roman"/>
                <a:sym typeface="Times New Roman"/>
              </a:rPr>
              <a:t>Trained using BPR loss with positive/negative sampling</a:t>
            </a:r>
            <a:br>
              <a:rPr lang="en" sz="1300">
                <a:solidFill>
                  <a:schemeClr val="dk1"/>
                </a:solidFill>
                <a:latin typeface="Times New Roman"/>
                <a:ea typeface="Times New Roman"/>
                <a:cs typeface="Times New Roman"/>
                <a:sym typeface="Times New Roman"/>
              </a:rPr>
            </a:br>
            <a:endParaRPr sz="1300">
              <a:solidFill>
                <a:schemeClr val="dk1"/>
              </a:solidFill>
              <a:latin typeface="Times New Roman"/>
              <a:ea typeface="Times New Roman"/>
              <a:cs typeface="Times New Roman"/>
              <a:sym typeface="Times New Roman"/>
            </a:endParaRPr>
          </a:p>
          <a:p>
            <a:pPr indent="-311150" lvl="0" marL="457200" rtl="0" algn="just">
              <a:lnSpc>
                <a:spcPct val="80000"/>
              </a:lnSpc>
              <a:spcBef>
                <a:spcPts val="0"/>
              </a:spcBef>
              <a:spcAft>
                <a:spcPts val="0"/>
              </a:spcAft>
              <a:buClr>
                <a:schemeClr val="dk1"/>
              </a:buClr>
              <a:buSzPts val="1300"/>
              <a:buFont typeface="Times New Roman"/>
              <a:buAutoNum type="arabicPeriod"/>
            </a:pPr>
            <a:r>
              <a:rPr lang="en" sz="1300">
                <a:solidFill>
                  <a:schemeClr val="dk1"/>
                </a:solidFill>
                <a:latin typeface="Times New Roman"/>
                <a:ea typeface="Times New Roman"/>
                <a:cs typeface="Times New Roman"/>
                <a:sym typeface="Times New Roman"/>
              </a:rPr>
              <a:t>Evaluated using NDCG@20</a:t>
            </a:r>
            <a:endParaRPr sz="1300">
              <a:solidFill>
                <a:schemeClr val="dk1"/>
              </a:solidFill>
              <a:latin typeface="Times New Roman"/>
              <a:ea typeface="Times New Roman"/>
              <a:cs typeface="Times New Roman"/>
              <a:sym typeface="Times New Roman"/>
            </a:endParaRPr>
          </a:p>
          <a:p>
            <a:pPr indent="0" lvl="0" marL="0" rtl="0" algn="just">
              <a:lnSpc>
                <a:spcPct val="95000"/>
              </a:lnSpc>
              <a:spcBef>
                <a:spcPts val="1200"/>
              </a:spcBef>
              <a:spcAft>
                <a:spcPts val="0"/>
              </a:spcAft>
              <a:buClr>
                <a:schemeClr val="dk1"/>
              </a:buClr>
              <a:buSzPts val="275"/>
              <a:buFont typeface="Arial"/>
              <a:buNone/>
            </a:pPr>
            <a:r>
              <a:rPr b="1" lang="en" sz="1300">
                <a:solidFill>
                  <a:schemeClr val="dk1"/>
                </a:solidFill>
                <a:latin typeface="Times New Roman"/>
                <a:ea typeface="Times New Roman"/>
                <a:cs typeface="Times New Roman"/>
                <a:sym typeface="Times New Roman"/>
              </a:rPr>
              <a:t>Tweaks Tried:</a:t>
            </a:r>
            <a:endParaRPr b="1" sz="1300">
              <a:solidFill>
                <a:schemeClr val="dk1"/>
              </a:solidFill>
              <a:latin typeface="Times New Roman"/>
              <a:ea typeface="Times New Roman"/>
              <a:cs typeface="Times New Roman"/>
              <a:sym typeface="Times New Roman"/>
            </a:endParaRPr>
          </a:p>
          <a:p>
            <a:pPr indent="-311150" lvl="0" marL="457200" rtl="0" algn="just">
              <a:lnSpc>
                <a:spcPct val="95000"/>
              </a:lnSpc>
              <a:spcBef>
                <a:spcPts val="1200"/>
              </a:spcBef>
              <a:spcAft>
                <a:spcPts val="0"/>
              </a:spcAft>
              <a:buClr>
                <a:schemeClr val="dk1"/>
              </a:buClr>
              <a:buSzPts val="1300"/>
              <a:buChar char="●"/>
            </a:pPr>
            <a:r>
              <a:rPr b="1" lang="en" sz="1300">
                <a:solidFill>
                  <a:schemeClr val="dk1"/>
                </a:solidFill>
                <a:latin typeface="Times New Roman"/>
                <a:ea typeface="Times New Roman"/>
                <a:cs typeface="Times New Roman"/>
                <a:sym typeface="Times New Roman"/>
              </a:rPr>
              <a:t>v1:</a:t>
            </a:r>
            <a:r>
              <a:rPr lang="en" sz="1300">
                <a:solidFill>
                  <a:schemeClr val="dk1"/>
                </a:solidFill>
                <a:latin typeface="Times New Roman"/>
                <a:ea typeface="Times New Roman"/>
                <a:cs typeface="Times New Roman"/>
                <a:sym typeface="Times New Roman"/>
              </a:rPr>
              <a:t> Base LightGCN</a:t>
            </a:r>
            <a:endParaRPr sz="1300">
              <a:solidFill>
                <a:schemeClr val="dk1"/>
              </a:solidFill>
              <a:latin typeface="Times New Roman"/>
              <a:ea typeface="Times New Roman"/>
              <a:cs typeface="Times New Roman"/>
              <a:sym typeface="Times New Roman"/>
            </a:endParaRPr>
          </a:p>
          <a:p>
            <a:pPr indent="-311150" lvl="0" marL="457200" rtl="0" algn="just">
              <a:lnSpc>
                <a:spcPct val="95000"/>
              </a:lnSpc>
              <a:spcBef>
                <a:spcPts val="0"/>
              </a:spcBef>
              <a:spcAft>
                <a:spcPts val="0"/>
              </a:spcAft>
              <a:buClr>
                <a:schemeClr val="dk1"/>
              </a:buClr>
              <a:buSzPts val="1300"/>
              <a:buChar char="●"/>
            </a:pPr>
            <a:r>
              <a:rPr b="1" lang="en" sz="1300">
                <a:solidFill>
                  <a:schemeClr val="dk1"/>
                </a:solidFill>
                <a:latin typeface="Times New Roman"/>
                <a:ea typeface="Times New Roman"/>
                <a:cs typeface="Times New Roman"/>
                <a:sym typeface="Times New Roman"/>
              </a:rPr>
              <a:t>v2:</a:t>
            </a:r>
            <a:r>
              <a:rPr lang="en" sz="1300">
                <a:solidFill>
                  <a:schemeClr val="dk1"/>
                </a:solidFill>
                <a:latin typeface="Times New Roman"/>
                <a:ea typeface="Times New Roman"/>
                <a:cs typeface="Times New Roman"/>
                <a:sym typeface="Times New Roman"/>
              </a:rPr>
              <a:t> Better regularization &amp; propagation tuning</a:t>
            </a:r>
            <a:endParaRPr sz="1300">
              <a:solidFill>
                <a:schemeClr val="dk1"/>
              </a:solidFill>
              <a:latin typeface="Times New Roman"/>
              <a:ea typeface="Times New Roman"/>
              <a:cs typeface="Times New Roman"/>
              <a:sym typeface="Times New Roman"/>
            </a:endParaRPr>
          </a:p>
          <a:p>
            <a:pPr indent="-311150" lvl="0" marL="457200" rtl="0" algn="just">
              <a:lnSpc>
                <a:spcPct val="95000"/>
              </a:lnSpc>
              <a:spcBef>
                <a:spcPts val="0"/>
              </a:spcBef>
              <a:spcAft>
                <a:spcPts val="0"/>
              </a:spcAft>
              <a:buClr>
                <a:schemeClr val="dk1"/>
              </a:buClr>
              <a:buSzPts val="1300"/>
              <a:buChar char="●"/>
            </a:pPr>
            <a:r>
              <a:rPr b="1" lang="en" sz="1300">
                <a:solidFill>
                  <a:schemeClr val="dk1"/>
                </a:solidFill>
                <a:latin typeface="Times New Roman"/>
                <a:ea typeface="Times New Roman"/>
                <a:cs typeface="Times New Roman"/>
                <a:sym typeface="Times New Roman"/>
              </a:rPr>
              <a:t>v3 + Popularity (α = 0.8):</a:t>
            </a:r>
            <a:r>
              <a:rPr lang="en" sz="1300">
                <a:solidFill>
                  <a:schemeClr val="dk1"/>
                </a:solidFill>
                <a:latin typeface="Times New Roman"/>
                <a:ea typeface="Times New Roman"/>
                <a:cs typeface="Times New Roman"/>
                <a:sym typeface="Times New Roman"/>
              </a:rPr>
              <a:t> Added popularity prior (slightly worse)</a:t>
            </a:r>
            <a:endParaRPr sz="1300">
              <a:solidFill>
                <a:schemeClr val="dk1"/>
              </a:solidFill>
              <a:latin typeface="Times New Roman"/>
              <a:ea typeface="Times New Roman"/>
              <a:cs typeface="Times New Roman"/>
              <a:sym typeface="Times New Roman"/>
            </a:endParaRPr>
          </a:p>
          <a:p>
            <a:pPr indent="-311150" lvl="0" marL="457200" rtl="0" algn="just">
              <a:lnSpc>
                <a:spcPct val="95000"/>
              </a:lnSpc>
              <a:spcBef>
                <a:spcPts val="0"/>
              </a:spcBef>
              <a:spcAft>
                <a:spcPts val="0"/>
              </a:spcAft>
              <a:buClr>
                <a:schemeClr val="dk1"/>
              </a:buClr>
              <a:buSzPts val="1300"/>
              <a:buChar char="●"/>
            </a:pPr>
            <a:r>
              <a:rPr b="1" lang="en" sz="1300">
                <a:solidFill>
                  <a:schemeClr val="dk1"/>
                </a:solidFill>
                <a:latin typeface="Times New Roman"/>
                <a:ea typeface="Times New Roman"/>
                <a:cs typeface="Times New Roman"/>
                <a:sym typeface="Times New Roman"/>
              </a:rPr>
              <a:t>v4 (Best):</a:t>
            </a:r>
            <a:r>
              <a:rPr lang="en" sz="1300">
                <a:solidFill>
                  <a:schemeClr val="dk1"/>
                </a:solidFill>
                <a:latin typeface="Times New Roman"/>
                <a:ea typeface="Times New Roman"/>
                <a:cs typeface="Times New Roman"/>
                <a:sym typeface="Times New Roman"/>
              </a:rPr>
              <a:t> Optimized LR, sampling, and embedding size </a:t>
            </a:r>
            <a:endParaRPr sz="1300">
              <a:solidFill>
                <a:schemeClr val="dk1"/>
              </a:solidFill>
              <a:latin typeface="Times New Roman"/>
              <a:ea typeface="Times New Roman"/>
              <a:cs typeface="Times New Roman"/>
              <a:sym typeface="Times New Roman"/>
            </a:endParaRPr>
          </a:p>
          <a:p>
            <a:pPr indent="0" lvl="0" marL="457200" rtl="0" algn="just">
              <a:lnSpc>
                <a:spcPct val="95000"/>
              </a:lnSpc>
              <a:spcBef>
                <a:spcPts val="1200"/>
              </a:spcBef>
              <a:spcAft>
                <a:spcPts val="0"/>
              </a:spcAft>
              <a:buNone/>
            </a:pPr>
            <a:r>
              <a:rPr b="1" lang="en" sz="1300">
                <a:solidFill>
                  <a:schemeClr val="dk1"/>
                </a:solidFill>
                <a:latin typeface="Times New Roman"/>
                <a:ea typeface="Times New Roman"/>
                <a:cs typeface="Times New Roman"/>
                <a:sym typeface="Times New Roman"/>
              </a:rPr>
              <a:t>Top NDCG@20 = 0.0349</a:t>
            </a:r>
            <a:endParaRPr b="1" sz="1300">
              <a:solidFill>
                <a:schemeClr val="dk1"/>
              </a:solidFill>
              <a:latin typeface="Times New Roman"/>
              <a:ea typeface="Times New Roman"/>
              <a:cs typeface="Times New Roman"/>
              <a:sym typeface="Times New Roman"/>
            </a:endParaRPr>
          </a:p>
          <a:p>
            <a:pPr indent="0" lvl="0" marL="0" rtl="0" algn="just">
              <a:lnSpc>
                <a:spcPct val="95000"/>
              </a:lnSpc>
              <a:spcBef>
                <a:spcPts val="1200"/>
              </a:spcBef>
              <a:spcAft>
                <a:spcPts val="0"/>
              </a:spcAft>
              <a:buSzPts val="275"/>
              <a:buNone/>
            </a:pPr>
            <a:r>
              <a:t/>
            </a:r>
            <a:endParaRPr sz="1300">
              <a:solidFill>
                <a:schemeClr val="dk1"/>
              </a:solidFill>
              <a:latin typeface="Times New Roman"/>
              <a:ea typeface="Times New Roman"/>
              <a:cs typeface="Times New Roman"/>
              <a:sym typeface="Times New Roman"/>
            </a:endParaRPr>
          </a:p>
          <a:p>
            <a:pPr indent="0" lvl="0" marL="457200" rtl="0" algn="just">
              <a:lnSpc>
                <a:spcPct val="95000"/>
              </a:lnSpc>
              <a:spcBef>
                <a:spcPts val="1200"/>
              </a:spcBef>
              <a:spcAft>
                <a:spcPts val="0"/>
              </a:spcAft>
              <a:buSzPts val="275"/>
              <a:buNone/>
            </a:pPr>
            <a:r>
              <a:t/>
            </a:r>
            <a:endParaRPr sz="1300">
              <a:solidFill>
                <a:schemeClr val="dk1"/>
              </a:solidFill>
              <a:latin typeface="Times New Roman"/>
              <a:ea typeface="Times New Roman"/>
              <a:cs typeface="Times New Roman"/>
              <a:sym typeface="Times New Roman"/>
            </a:endParaRPr>
          </a:p>
          <a:p>
            <a:pPr indent="0" lvl="0" marL="457200" rtl="0" algn="just">
              <a:lnSpc>
                <a:spcPct val="95000"/>
              </a:lnSpc>
              <a:spcBef>
                <a:spcPts val="1200"/>
              </a:spcBef>
              <a:spcAft>
                <a:spcPts val="0"/>
              </a:spcAft>
              <a:buSzPts val="275"/>
              <a:buNone/>
            </a:pPr>
            <a:r>
              <a:t/>
            </a:r>
            <a:endParaRPr sz="1300">
              <a:solidFill>
                <a:schemeClr val="dk1"/>
              </a:solidFill>
              <a:latin typeface="Times New Roman"/>
              <a:ea typeface="Times New Roman"/>
              <a:cs typeface="Times New Roman"/>
              <a:sym typeface="Times New Roman"/>
            </a:endParaRPr>
          </a:p>
          <a:p>
            <a:pPr indent="0" lvl="0" marL="0" rtl="0" algn="just">
              <a:lnSpc>
                <a:spcPct val="95000"/>
              </a:lnSpc>
              <a:spcBef>
                <a:spcPts val="0"/>
              </a:spcBef>
              <a:spcAft>
                <a:spcPts val="1200"/>
              </a:spcAft>
              <a:buSzPts val="275"/>
              <a:buNone/>
            </a:pPr>
            <a:r>
              <a:t/>
            </a:r>
            <a:endParaRPr sz="1300">
              <a:latin typeface="Times New Roman"/>
              <a:ea typeface="Times New Roman"/>
              <a:cs typeface="Times New Roman"/>
              <a:sym typeface="Times New Roman"/>
            </a:endParaRPr>
          </a:p>
        </p:txBody>
      </p:sp>
      <p:graphicFrame>
        <p:nvGraphicFramePr>
          <p:cNvPr id="87" name="Google Shape;87;p17"/>
          <p:cNvGraphicFramePr/>
          <p:nvPr/>
        </p:nvGraphicFramePr>
        <p:xfrm>
          <a:off x="4847950" y="2715650"/>
          <a:ext cx="3000000" cy="3000000"/>
        </p:xfrm>
        <a:graphic>
          <a:graphicData uri="http://schemas.openxmlformats.org/drawingml/2006/table">
            <a:tbl>
              <a:tblPr>
                <a:noFill/>
                <a:tableStyleId>{E9D7E41C-CF76-491C-886A-9E89E48282F5}</a:tableStyleId>
              </a:tblPr>
              <a:tblGrid>
                <a:gridCol w="1699475"/>
                <a:gridCol w="1434875"/>
                <a:gridCol w="1027850"/>
              </a:tblGrid>
              <a:tr h="394875">
                <a:tc>
                  <a:txBody>
                    <a:bodyPr/>
                    <a:lstStyle/>
                    <a:p>
                      <a:pPr indent="0" lvl="0" marL="0" rtl="0" algn="ctr">
                        <a:spcBef>
                          <a:spcPts val="0"/>
                        </a:spcBef>
                        <a:spcAft>
                          <a:spcPts val="0"/>
                        </a:spcAft>
                        <a:buNone/>
                      </a:pPr>
                      <a:r>
                        <a:rPr b="1" lang="en" sz="900">
                          <a:latin typeface="Times New Roman"/>
                          <a:ea typeface="Times New Roman"/>
                          <a:cs typeface="Times New Roman"/>
                          <a:sym typeface="Times New Roman"/>
                        </a:rPr>
                        <a:t>Model Variant / Submission</a:t>
                      </a:r>
                      <a:endParaRPr b="1" sz="900">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b="1" lang="en" sz="900">
                          <a:latin typeface="Times New Roman"/>
                          <a:ea typeface="Times New Roman"/>
                          <a:cs typeface="Times New Roman"/>
                          <a:sym typeface="Times New Roman"/>
                        </a:rPr>
                        <a:t>File Name</a:t>
                      </a:r>
                      <a:endParaRPr b="1" sz="900">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b="1" lang="en" sz="900">
                          <a:latin typeface="Times New Roman"/>
                          <a:ea typeface="Times New Roman"/>
                          <a:cs typeface="Times New Roman"/>
                          <a:sym typeface="Times New Roman"/>
                        </a:rPr>
                        <a:t>NDCG@20 (on 50%)</a:t>
                      </a:r>
                      <a:endParaRPr b="1" sz="900">
                        <a:latin typeface="Times New Roman"/>
                        <a:ea typeface="Times New Roman"/>
                        <a:cs typeface="Times New Roman"/>
                        <a:sym typeface="Times New Roman"/>
                      </a:endParaRPr>
                    </a:p>
                  </a:txBody>
                  <a:tcPr marT="63500" marB="63500" marR="63500" marL="63500"/>
                </a:tc>
              </a:tr>
              <a:tr h="394900">
                <a:tc>
                  <a:txBody>
                    <a:bodyPr/>
                    <a:lstStyle/>
                    <a:p>
                      <a:pPr indent="0" lvl="0" marL="0" rtl="0" algn="l">
                        <a:spcBef>
                          <a:spcPts val="0"/>
                        </a:spcBef>
                        <a:spcAft>
                          <a:spcPts val="0"/>
                        </a:spcAft>
                        <a:buNone/>
                      </a:pPr>
                      <a:r>
                        <a:rPr lang="en" sz="900">
                          <a:latin typeface="Times New Roman"/>
                          <a:ea typeface="Times New Roman"/>
                          <a:cs typeface="Times New Roman"/>
                          <a:sym typeface="Times New Roman"/>
                        </a:rPr>
                        <a:t>LightGCN v4 (Best-performing)</a:t>
                      </a:r>
                      <a:endParaRPr sz="9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900">
                          <a:latin typeface="Times New Roman"/>
                          <a:ea typeface="Times New Roman"/>
                          <a:cs typeface="Times New Roman"/>
                          <a:sym typeface="Times New Roman"/>
                        </a:rPr>
                        <a:t>submission_lgcn4.txt</a:t>
                      </a:r>
                      <a:endParaRPr sz="900">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lang="en" sz="900">
                          <a:latin typeface="Times New Roman"/>
                          <a:ea typeface="Times New Roman"/>
                          <a:cs typeface="Times New Roman"/>
                          <a:sym typeface="Times New Roman"/>
                        </a:rPr>
                        <a:t>0.0349</a:t>
                      </a:r>
                      <a:endParaRPr sz="900">
                        <a:latin typeface="Times New Roman"/>
                        <a:ea typeface="Times New Roman"/>
                        <a:cs typeface="Times New Roman"/>
                        <a:sym typeface="Times New Roman"/>
                      </a:endParaRPr>
                    </a:p>
                  </a:txBody>
                  <a:tcPr marT="63500" marB="63500" marR="63500" marL="63500"/>
                </a:tc>
              </a:tr>
              <a:tr h="394875">
                <a:tc>
                  <a:txBody>
                    <a:bodyPr/>
                    <a:lstStyle/>
                    <a:p>
                      <a:pPr indent="0" lvl="0" marL="0" rtl="0" algn="l">
                        <a:spcBef>
                          <a:spcPts val="0"/>
                        </a:spcBef>
                        <a:spcAft>
                          <a:spcPts val="0"/>
                        </a:spcAft>
                        <a:buNone/>
                      </a:pPr>
                      <a:r>
                        <a:rPr lang="en" sz="900">
                          <a:latin typeface="Times New Roman"/>
                          <a:ea typeface="Times New Roman"/>
                          <a:cs typeface="Times New Roman"/>
                          <a:sym typeface="Times New Roman"/>
                        </a:rPr>
                        <a:t>LightGCN with popularity blend (α = 0.8)</a:t>
                      </a:r>
                      <a:endParaRPr sz="9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900">
                          <a:latin typeface="Times New Roman"/>
                          <a:ea typeface="Times New Roman"/>
                          <a:cs typeface="Times New Roman"/>
                          <a:sym typeface="Times New Roman"/>
                        </a:rPr>
                        <a:t>submission_lgcn3_alpha_0.8.txt</a:t>
                      </a:r>
                      <a:endParaRPr sz="900">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lang="en" sz="900">
                          <a:latin typeface="Times New Roman"/>
                          <a:ea typeface="Times New Roman"/>
                          <a:cs typeface="Times New Roman"/>
                          <a:sym typeface="Times New Roman"/>
                        </a:rPr>
                        <a:t>0.0322</a:t>
                      </a:r>
                      <a:endParaRPr sz="900">
                        <a:latin typeface="Times New Roman"/>
                        <a:ea typeface="Times New Roman"/>
                        <a:cs typeface="Times New Roman"/>
                        <a:sym typeface="Times New Roman"/>
                      </a:endParaRPr>
                    </a:p>
                  </a:txBody>
                  <a:tcPr marT="63500" marB="63500" marR="63500" marL="63500"/>
                </a:tc>
              </a:tr>
              <a:tr h="384925">
                <a:tc>
                  <a:txBody>
                    <a:bodyPr/>
                    <a:lstStyle/>
                    <a:p>
                      <a:pPr indent="0" lvl="0" marL="0" rtl="0" algn="l">
                        <a:spcBef>
                          <a:spcPts val="0"/>
                        </a:spcBef>
                        <a:spcAft>
                          <a:spcPts val="0"/>
                        </a:spcAft>
                        <a:buNone/>
                      </a:pPr>
                      <a:r>
                        <a:rPr lang="en" sz="900">
                          <a:latin typeface="Times New Roman"/>
                          <a:ea typeface="Times New Roman"/>
                          <a:cs typeface="Times New Roman"/>
                          <a:sym typeface="Times New Roman"/>
                        </a:rPr>
                        <a:t>LightGCN v2</a:t>
                      </a:r>
                      <a:endParaRPr sz="9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900">
                          <a:latin typeface="Times New Roman"/>
                          <a:ea typeface="Times New Roman"/>
                          <a:cs typeface="Times New Roman"/>
                          <a:sym typeface="Times New Roman"/>
                        </a:rPr>
                        <a:t>submission-lgcn-2.txt</a:t>
                      </a:r>
                      <a:endParaRPr sz="900">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lang="en" sz="900">
                          <a:latin typeface="Times New Roman"/>
                          <a:ea typeface="Times New Roman"/>
                          <a:cs typeface="Times New Roman"/>
                          <a:sym typeface="Times New Roman"/>
                        </a:rPr>
                        <a:t>0.0305</a:t>
                      </a:r>
                      <a:endParaRPr sz="900">
                        <a:latin typeface="Times New Roman"/>
                        <a:ea typeface="Times New Roman"/>
                        <a:cs typeface="Times New Roman"/>
                        <a:sym typeface="Times New Roman"/>
                      </a:endParaRPr>
                    </a:p>
                  </a:txBody>
                  <a:tcPr marT="63500" marB="63500" marR="63500" marL="63500"/>
                </a:tc>
              </a:tr>
              <a:tr h="261125">
                <a:tc>
                  <a:txBody>
                    <a:bodyPr/>
                    <a:lstStyle/>
                    <a:p>
                      <a:pPr indent="0" lvl="0" marL="0" rtl="0" algn="l">
                        <a:spcBef>
                          <a:spcPts val="0"/>
                        </a:spcBef>
                        <a:spcAft>
                          <a:spcPts val="0"/>
                        </a:spcAft>
                        <a:buNone/>
                      </a:pPr>
                      <a:r>
                        <a:rPr lang="en" sz="900">
                          <a:latin typeface="Times New Roman"/>
                          <a:ea typeface="Times New Roman"/>
                          <a:cs typeface="Times New Roman"/>
                          <a:sym typeface="Times New Roman"/>
                        </a:rPr>
                        <a:t>LightGCN v1</a:t>
                      </a:r>
                      <a:endParaRPr sz="9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900">
                          <a:latin typeface="Times New Roman"/>
                          <a:ea typeface="Times New Roman"/>
                          <a:cs typeface="Times New Roman"/>
                          <a:sym typeface="Times New Roman"/>
                        </a:rPr>
                        <a:t>submission-lgcn.txt</a:t>
                      </a:r>
                      <a:endParaRPr sz="900">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lang="en" sz="900">
                          <a:latin typeface="Times New Roman"/>
                          <a:ea typeface="Times New Roman"/>
                          <a:cs typeface="Times New Roman"/>
                          <a:sym typeface="Times New Roman"/>
                        </a:rPr>
                        <a:t>0.0284</a:t>
                      </a:r>
                      <a:endParaRPr sz="900">
                        <a:latin typeface="Times New Roman"/>
                        <a:ea typeface="Times New Roman"/>
                        <a:cs typeface="Times New Roman"/>
                        <a:sym typeface="Times New Roman"/>
                      </a:endParaRPr>
                    </a:p>
                  </a:txBody>
                  <a:tcPr marT="63500" marB="63500" marR="63500" marL="63500"/>
                </a:tc>
              </a:tr>
              <a:tr h="523300">
                <a:tc>
                  <a:txBody>
                    <a:bodyPr/>
                    <a:lstStyle/>
                    <a:p>
                      <a:pPr indent="0" lvl="0" marL="0" rtl="0" algn="l">
                        <a:spcBef>
                          <a:spcPts val="0"/>
                        </a:spcBef>
                        <a:spcAft>
                          <a:spcPts val="0"/>
                        </a:spcAft>
                        <a:buNone/>
                      </a:pPr>
                      <a:r>
                        <a:rPr lang="en" sz="900">
                          <a:latin typeface="Times New Roman"/>
                          <a:ea typeface="Times New Roman"/>
                          <a:cs typeface="Times New Roman"/>
                          <a:sym typeface="Times New Roman"/>
                        </a:rPr>
                        <a:t>LightGCN + popularity baseline</a:t>
                      </a:r>
                      <a:endParaRPr sz="9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900">
                          <a:latin typeface="Times New Roman"/>
                          <a:ea typeface="Times New Roman"/>
                          <a:cs typeface="Times New Roman"/>
                          <a:sym typeface="Times New Roman"/>
                        </a:rPr>
                        <a:t>submission__lgcn3pop.txt</a:t>
                      </a:r>
                      <a:endParaRPr sz="900">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lang="en" sz="900">
                          <a:latin typeface="Times New Roman"/>
                          <a:ea typeface="Times New Roman"/>
                          <a:cs typeface="Times New Roman"/>
                          <a:sym typeface="Times New Roman"/>
                        </a:rPr>
                        <a:t>0.0106</a:t>
                      </a:r>
                      <a:endParaRPr sz="900">
                        <a:latin typeface="Times New Roman"/>
                        <a:ea typeface="Times New Roman"/>
                        <a:cs typeface="Times New Roman"/>
                        <a:sym typeface="Times New Roman"/>
                      </a:endParaRPr>
                    </a:p>
                  </a:txBody>
                  <a:tcPr marT="63500" marB="63500" marR="63500" marL="63500"/>
                </a:tc>
              </a:tr>
            </a:tbl>
          </a:graphicData>
        </a:graphic>
      </p:graphicFrame>
      <p:pic>
        <p:nvPicPr>
          <p:cNvPr id="88" name="Google Shape;88;p17"/>
          <p:cNvPicPr preferRelativeResize="0"/>
          <p:nvPr/>
        </p:nvPicPr>
        <p:blipFill>
          <a:blip r:embed="rId3">
            <a:alphaModFix/>
          </a:blip>
          <a:stretch>
            <a:fillRect/>
          </a:stretch>
        </p:blipFill>
        <p:spPr>
          <a:xfrm>
            <a:off x="4731650" y="527775"/>
            <a:ext cx="4162200" cy="21878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8"/>
          <p:cNvSpPr txBox="1"/>
          <p:nvPr>
            <p:ph type="title"/>
          </p:nvPr>
        </p:nvSpPr>
        <p:spPr>
          <a:xfrm>
            <a:off x="311700" y="748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Times New Roman"/>
                <a:ea typeface="Times New Roman"/>
                <a:cs typeface="Times New Roman"/>
                <a:sym typeface="Times New Roman"/>
              </a:rPr>
              <a:t>Alternating Least Squares (ALS)</a:t>
            </a:r>
            <a:endParaRPr>
              <a:latin typeface="Times New Roman"/>
              <a:ea typeface="Times New Roman"/>
              <a:cs typeface="Times New Roman"/>
              <a:sym typeface="Times New Roman"/>
            </a:endParaRPr>
          </a:p>
        </p:txBody>
      </p:sp>
      <p:sp>
        <p:nvSpPr>
          <p:cNvPr id="94" name="Google Shape;94;p18"/>
          <p:cNvSpPr txBox="1"/>
          <p:nvPr>
            <p:ph idx="1" type="body"/>
          </p:nvPr>
        </p:nvSpPr>
        <p:spPr>
          <a:xfrm>
            <a:off x="311700" y="764450"/>
            <a:ext cx="8335800" cy="3416400"/>
          </a:xfrm>
          <a:prstGeom prst="rect">
            <a:avLst/>
          </a:prstGeom>
        </p:spPr>
        <p:txBody>
          <a:bodyPr anchorCtr="0" anchor="t" bIns="91425" lIns="91425" spcFirstLastPara="1" rIns="91425" wrap="square" tIns="91425">
            <a:normAutofit/>
          </a:bodyPr>
          <a:lstStyle/>
          <a:p>
            <a:pPr indent="-311150" lvl="0" marL="457200" rtl="0" algn="just">
              <a:spcBef>
                <a:spcPts val="0"/>
              </a:spcBef>
              <a:spcAft>
                <a:spcPts val="0"/>
              </a:spcAft>
              <a:buClr>
                <a:schemeClr val="dk1"/>
              </a:buClr>
              <a:buSzPts val="1300"/>
              <a:buFont typeface="Times New Roman"/>
              <a:buChar char="●"/>
            </a:pPr>
            <a:r>
              <a:rPr lang="en" sz="1300">
                <a:solidFill>
                  <a:schemeClr val="dk1"/>
                </a:solidFill>
                <a:latin typeface="Times New Roman"/>
                <a:ea typeface="Times New Roman"/>
                <a:cs typeface="Times New Roman"/>
                <a:sym typeface="Times New Roman"/>
              </a:rPr>
              <a:t>ALS is a latent factor model that learns user and item embeddings from implicit feedback using alternating optimization.</a:t>
            </a:r>
            <a:endParaRPr sz="1300">
              <a:solidFill>
                <a:schemeClr val="dk1"/>
              </a:solidFill>
              <a:latin typeface="Times New Roman"/>
              <a:ea typeface="Times New Roman"/>
              <a:cs typeface="Times New Roman"/>
              <a:sym typeface="Times New Roman"/>
            </a:endParaRPr>
          </a:p>
          <a:p>
            <a:pPr indent="-311150" lvl="0" marL="457200" rtl="0" algn="just">
              <a:spcBef>
                <a:spcPts val="0"/>
              </a:spcBef>
              <a:spcAft>
                <a:spcPts val="0"/>
              </a:spcAft>
              <a:buClr>
                <a:schemeClr val="dk1"/>
              </a:buClr>
              <a:buSzPts val="1300"/>
              <a:buFont typeface="Times New Roman"/>
              <a:buChar char="●"/>
            </a:pPr>
            <a:r>
              <a:rPr lang="en" sz="1300">
                <a:solidFill>
                  <a:schemeClr val="dk1"/>
                </a:solidFill>
                <a:latin typeface="Times New Roman"/>
                <a:ea typeface="Times New Roman"/>
                <a:cs typeface="Times New Roman"/>
                <a:sym typeface="Times New Roman"/>
              </a:rPr>
              <a:t>Preprocessing included ID mapping, rare-item filtering, building a CSR sparse matrix (~31K × ~38K), and applying a per-user 90/10 train–validation split. A user_items dictionary was created to track seen items, and BM25 weighting was used only for the ALS Tweak 2 variant.</a:t>
            </a:r>
            <a:endParaRPr sz="1300">
              <a:solidFill>
                <a:schemeClr val="dk1"/>
              </a:solidFill>
              <a:latin typeface="Times New Roman"/>
              <a:ea typeface="Times New Roman"/>
              <a:cs typeface="Times New Roman"/>
              <a:sym typeface="Times New Roman"/>
            </a:endParaRPr>
          </a:p>
          <a:p>
            <a:pPr indent="-311150" lvl="0" marL="457200" rtl="0" algn="just">
              <a:spcBef>
                <a:spcPts val="0"/>
              </a:spcBef>
              <a:spcAft>
                <a:spcPts val="0"/>
              </a:spcAft>
              <a:buClr>
                <a:schemeClr val="dk1"/>
              </a:buClr>
              <a:buSzPts val="1300"/>
              <a:buFont typeface="Times New Roman"/>
              <a:buChar char="●"/>
            </a:pPr>
            <a:r>
              <a:rPr lang="en" sz="1300">
                <a:solidFill>
                  <a:schemeClr val="dk1"/>
                </a:solidFill>
                <a:latin typeface="Times New Roman"/>
                <a:ea typeface="Times New Roman"/>
                <a:cs typeface="Times New Roman"/>
                <a:sym typeface="Times New Roman"/>
              </a:rPr>
              <a:t>Trained three configurations by varying latent factors (64/96/128), regularization, iterations (20–30), and using BM25 weighting for one variant.</a:t>
            </a:r>
            <a:endParaRPr sz="1300">
              <a:solidFill>
                <a:schemeClr val="dk1"/>
              </a:solidFill>
              <a:latin typeface="Times New Roman"/>
              <a:ea typeface="Times New Roman"/>
              <a:cs typeface="Times New Roman"/>
              <a:sym typeface="Times New Roman"/>
            </a:endParaRPr>
          </a:p>
          <a:p>
            <a:pPr indent="-311150" lvl="0" marL="457200" rtl="0" algn="just">
              <a:spcBef>
                <a:spcPts val="0"/>
              </a:spcBef>
              <a:spcAft>
                <a:spcPts val="0"/>
              </a:spcAft>
              <a:buClr>
                <a:schemeClr val="dk1"/>
              </a:buClr>
              <a:buSzPts val="1300"/>
              <a:buFont typeface="Times New Roman"/>
              <a:buChar char="●"/>
            </a:pPr>
            <a:r>
              <a:rPr lang="en" sz="1300">
                <a:solidFill>
                  <a:schemeClr val="dk1"/>
                </a:solidFill>
                <a:latin typeface="Times New Roman"/>
                <a:ea typeface="Times New Roman"/>
                <a:cs typeface="Times New Roman"/>
                <a:sym typeface="Times New Roman"/>
              </a:rPr>
              <a:t>ALS Tweak 1 (128 factors, reg=0.05) achieved NDCG@20 ≈ 0.0419, the highest score among all ALS variants and all models overall.</a:t>
            </a:r>
            <a:endParaRPr sz="1300">
              <a:solidFill>
                <a:schemeClr val="dk1"/>
              </a:solidFill>
              <a:latin typeface="Times New Roman"/>
              <a:ea typeface="Times New Roman"/>
              <a:cs typeface="Times New Roman"/>
              <a:sym typeface="Times New Roman"/>
            </a:endParaRPr>
          </a:p>
        </p:txBody>
      </p:sp>
      <p:graphicFrame>
        <p:nvGraphicFramePr>
          <p:cNvPr id="95" name="Google Shape;95;p18"/>
          <p:cNvGraphicFramePr/>
          <p:nvPr/>
        </p:nvGraphicFramePr>
        <p:xfrm>
          <a:off x="311700" y="2998225"/>
          <a:ext cx="3000000" cy="3000000"/>
        </p:xfrm>
        <a:graphic>
          <a:graphicData uri="http://schemas.openxmlformats.org/drawingml/2006/table">
            <a:tbl>
              <a:tblPr>
                <a:noFill/>
                <a:tableStyleId>{0637C82A-1049-4D5A-81DC-EBF57A212903}</a:tableStyleId>
              </a:tblPr>
              <a:tblGrid>
                <a:gridCol w="1305650"/>
                <a:gridCol w="1305650"/>
                <a:gridCol w="1305650"/>
                <a:gridCol w="1305650"/>
              </a:tblGrid>
              <a:tr h="382850">
                <a:tc>
                  <a:txBody>
                    <a:bodyPr/>
                    <a:lstStyle/>
                    <a:p>
                      <a:pPr indent="0" lvl="0" marL="0" rtl="0" algn="l">
                        <a:spcBef>
                          <a:spcPts val="0"/>
                        </a:spcBef>
                        <a:spcAft>
                          <a:spcPts val="0"/>
                        </a:spcAft>
                        <a:buNone/>
                      </a:pPr>
                      <a:r>
                        <a:rPr lang="en" sz="1000">
                          <a:latin typeface="Times New Roman"/>
                          <a:ea typeface="Times New Roman"/>
                          <a:cs typeface="Times New Roman"/>
                          <a:sym typeface="Times New Roman"/>
                        </a:rPr>
                        <a:t>ALS Variant</a:t>
                      </a:r>
                      <a:endParaRPr sz="1000">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sz="1000">
                          <a:latin typeface="Times New Roman"/>
                          <a:ea typeface="Times New Roman"/>
                          <a:cs typeface="Times New Roman"/>
                          <a:sym typeface="Times New Roman"/>
                        </a:rPr>
                        <a:t>Configuration</a:t>
                      </a:r>
                      <a:endParaRPr sz="1000">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sz="1000">
                          <a:latin typeface="Times New Roman"/>
                          <a:ea typeface="Times New Roman"/>
                          <a:cs typeface="Times New Roman"/>
                          <a:sym typeface="Times New Roman"/>
                        </a:rPr>
                        <a:t>What we Changed</a:t>
                      </a:r>
                      <a:endParaRPr sz="1000">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sz="1000">
                          <a:latin typeface="Times New Roman"/>
                          <a:ea typeface="Times New Roman"/>
                          <a:cs typeface="Times New Roman"/>
                          <a:sym typeface="Times New Roman"/>
                        </a:rPr>
                        <a:t>NDCG</a:t>
                      </a:r>
                      <a:endParaRPr sz="1000">
                        <a:latin typeface="Times New Roman"/>
                        <a:ea typeface="Times New Roman"/>
                        <a:cs typeface="Times New Roman"/>
                        <a:sym typeface="Times New Roman"/>
                      </a:endParaRPr>
                    </a:p>
                  </a:txBody>
                  <a:tcPr marT="91425" marB="91425" marR="91425" marL="91425"/>
                </a:tc>
              </a:tr>
              <a:tr h="490025">
                <a:tc>
                  <a:txBody>
                    <a:bodyPr/>
                    <a:lstStyle/>
                    <a:p>
                      <a:pPr indent="0" lvl="0" marL="0" rtl="0" algn="l">
                        <a:spcBef>
                          <a:spcPts val="0"/>
                        </a:spcBef>
                        <a:spcAft>
                          <a:spcPts val="0"/>
                        </a:spcAft>
                        <a:buNone/>
                      </a:pPr>
                      <a:r>
                        <a:rPr lang="en" sz="1000">
                          <a:latin typeface="Times New Roman"/>
                          <a:ea typeface="Times New Roman"/>
                          <a:cs typeface="Times New Roman"/>
                          <a:sym typeface="Times New Roman"/>
                        </a:rPr>
                        <a:t>Base ALS</a:t>
                      </a:r>
                      <a:endParaRPr sz="1000">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sz="1000">
                          <a:latin typeface="Times New Roman"/>
                          <a:ea typeface="Times New Roman"/>
                          <a:cs typeface="Times New Roman"/>
                          <a:sym typeface="Times New Roman"/>
                        </a:rPr>
                        <a:t>64 factors, reg=0.01, 20 iterations, α=40</a:t>
                      </a:r>
                      <a:endParaRPr sz="1000">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sz="1000">
                          <a:latin typeface="Times New Roman"/>
                          <a:ea typeface="Times New Roman"/>
                          <a:cs typeface="Times New Roman"/>
                          <a:sym typeface="Times New Roman"/>
                        </a:rPr>
                        <a:t>Default Setup</a:t>
                      </a:r>
                      <a:endParaRPr sz="1000">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sz="1000">
                          <a:latin typeface="Times New Roman"/>
                          <a:ea typeface="Times New Roman"/>
                          <a:cs typeface="Times New Roman"/>
                          <a:sym typeface="Times New Roman"/>
                        </a:rPr>
                        <a:t>0.039</a:t>
                      </a:r>
                      <a:endParaRPr sz="1000">
                        <a:latin typeface="Times New Roman"/>
                        <a:ea typeface="Times New Roman"/>
                        <a:cs typeface="Times New Roman"/>
                        <a:sym typeface="Times New Roman"/>
                      </a:endParaRPr>
                    </a:p>
                  </a:txBody>
                  <a:tcPr marT="91425" marB="91425" marR="91425" marL="91425"/>
                </a:tc>
              </a:tr>
              <a:tr h="490025">
                <a:tc>
                  <a:txBody>
                    <a:bodyPr/>
                    <a:lstStyle/>
                    <a:p>
                      <a:pPr indent="0" lvl="0" marL="0" rtl="0" algn="l">
                        <a:spcBef>
                          <a:spcPts val="0"/>
                        </a:spcBef>
                        <a:spcAft>
                          <a:spcPts val="0"/>
                        </a:spcAft>
                        <a:buNone/>
                      </a:pPr>
                      <a:r>
                        <a:rPr lang="en" sz="1000">
                          <a:latin typeface="Times New Roman"/>
                          <a:ea typeface="Times New Roman"/>
                          <a:cs typeface="Times New Roman"/>
                          <a:sym typeface="Times New Roman"/>
                        </a:rPr>
                        <a:t>ALS Tweak1</a:t>
                      </a:r>
                      <a:endParaRPr sz="1000">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sz="1000">
                          <a:latin typeface="Times New Roman"/>
                          <a:ea typeface="Times New Roman"/>
                          <a:cs typeface="Times New Roman"/>
                          <a:sym typeface="Times New Roman"/>
                        </a:rPr>
                        <a:t>128 factors, reg=0.05, 30 iterations, α=40</a:t>
                      </a:r>
                      <a:endParaRPr sz="1000">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sz="1000">
                          <a:latin typeface="Times New Roman"/>
                          <a:ea typeface="Times New Roman"/>
                          <a:cs typeface="Times New Roman"/>
                          <a:sym typeface="Times New Roman"/>
                        </a:rPr>
                        <a:t>Increased model capacity</a:t>
                      </a:r>
                      <a:endParaRPr sz="1000">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sz="1000">
                          <a:latin typeface="Times New Roman"/>
                          <a:ea typeface="Times New Roman"/>
                          <a:cs typeface="Times New Roman"/>
                          <a:sym typeface="Times New Roman"/>
                        </a:rPr>
                        <a:t>0.0419</a:t>
                      </a:r>
                      <a:endParaRPr sz="1000">
                        <a:latin typeface="Times New Roman"/>
                        <a:ea typeface="Times New Roman"/>
                        <a:cs typeface="Times New Roman"/>
                        <a:sym typeface="Times New Roman"/>
                      </a:endParaRPr>
                    </a:p>
                  </a:txBody>
                  <a:tcPr marT="91425" marB="91425" marR="91425" marL="91425"/>
                </a:tc>
              </a:tr>
              <a:tr h="643150">
                <a:tc>
                  <a:txBody>
                    <a:bodyPr/>
                    <a:lstStyle/>
                    <a:p>
                      <a:pPr indent="0" lvl="0" marL="0" rtl="0" algn="l">
                        <a:spcBef>
                          <a:spcPts val="0"/>
                        </a:spcBef>
                        <a:spcAft>
                          <a:spcPts val="0"/>
                        </a:spcAft>
                        <a:buNone/>
                      </a:pPr>
                      <a:r>
                        <a:rPr lang="en" sz="1000">
                          <a:latin typeface="Times New Roman"/>
                          <a:ea typeface="Times New Roman"/>
                          <a:cs typeface="Times New Roman"/>
                          <a:sym typeface="Times New Roman"/>
                        </a:rPr>
                        <a:t>ALS Tweak 2</a:t>
                      </a:r>
                      <a:endParaRPr sz="1000">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sz="1000">
                          <a:latin typeface="Times New Roman"/>
                          <a:ea typeface="Times New Roman"/>
                          <a:cs typeface="Times New Roman"/>
                          <a:sym typeface="Times New Roman"/>
                        </a:rPr>
                        <a:t>96 factors, reg=0.03, 25 iterations, α=20, BM25 weighting</a:t>
                      </a:r>
                      <a:endParaRPr sz="1000">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sz="1000">
                          <a:latin typeface="Times New Roman"/>
                          <a:ea typeface="Times New Roman"/>
                          <a:cs typeface="Times New Roman"/>
                          <a:sym typeface="Times New Roman"/>
                        </a:rPr>
                        <a:t>Normalized item popularity</a:t>
                      </a:r>
                      <a:endParaRPr sz="1000">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sz="1000">
                          <a:latin typeface="Times New Roman"/>
                          <a:ea typeface="Times New Roman"/>
                          <a:cs typeface="Times New Roman"/>
                          <a:sym typeface="Times New Roman"/>
                        </a:rPr>
                        <a:t>0.0305</a:t>
                      </a:r>
                      <a:endParaRPr sz="1000">
                        <a:latin typeface="Times New Roman"/>
                        <a:ea typeface="Times New Roman"/>
                        <a:cs typeface="Times New Roman"/>
                        <a:sym typeface="Times New Roman"/>
                      </a:endParaRPr>
                    </a:p>
                  </a:txBody>
                  <a:tcPr marT="91425" marB="91425" marR="91425" marL="91425"/>
                </a:tc>
              </a:tr>
            </a:tbl>
          </a:graphicData>
        </a:graphic>
      </p:graphicFrame>
      <p:pic>
        <p:nvPicPr>
          <p:cNvPr id="96" name="Google Shape;96;p18"/>
          <p:cNvPicPr preferRelativeResize="0"/>
          <p:nvPr/>
        </p:nvPicPr>
        <p:blipFill>
          <a:blip r:embed="rId3">
            <a:alphaModFix/>
          </a:blip>
          <a:stretch>
            <a:fillRect/>
          </a:stretch>
        </p:blipFill>
        <p:spPr>
          <a:xfrm>
            <a:off x="5668751" y="2939775"/>
            <a:ext cx="3328460" cy="20645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9"/>
          <p:cNvSpPr txBox="1"/>
          <p:nvPr>
            <p:ph type="title"/>
          </p:nvPr>
        </p:nvSpPr>
        <p:spPr>
          <a:xfrm>
            <a:off x="311700" y="748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Times New Roman"/>
                <a:ea typeface="Times New Roman"/>
                <a:cs typeface="Times New Roman"/>
                <a:sym typeface="Times New Roman"/>
              </a:rPr>
              <a:t>Collaborative Filtering</a:t>
            </a:r>
            <a:endParaRPr>
              <a:latin typeface="Times New Roman"/>
              <a:ea typeface="Times New Roman"/>
              <a:cs typeface="Times New Roman"/>
              <a:sym typeface="Times New Roman"/>
            </a:endParaRPr>
          </a:p>
        </p:txBody>
      </p:sp>
      <p:sp>
        <p:nvSpPr>
          <p:cNvPr id="102" name="Google Shape;102;p19"/>
          <p:cNvSpPr txBox="1"/>
          <p:nvPr>
            <p:ph idx="1" type="body"/>
          </p:nvPr>
        </p:nvSpPr>
        <p:spPr>
          <a:xfrm>
            <a:off x="311700" y="764450"/>
            <a:ext cx="8520600" cy="1980600"/>
          </a:xfrm>
          <a:prstGeom prst="rect">
            <a:avLst/>
          </a:prstGeom>
        </p:spPr>
        <p:txBody>
          <a:bodyPr anchorCtr="0" anchor="t" bIns="91425" lIns="91425" spcFirstLastPara="1" rIns="91425" wrap="square" tIns="91425">
            <a:noAutofit/>
          </a:bodyPr>
          <a:lstStyle/>
          <a:p>
            <a:pPr indent="-311150" lvl="0" marL="457200" rtl="0" algn="just">
              <a:spcBef>
                <a:spcPts val="1200"/>
              </a:spcBef>
              <a:spcAft>
                <a:spcPts val="0"/>
              </a:spcAft>
              <a:buClr>
                <a:schemeClr val="dk1"/>
              </a:buClr>
              <a:buSzPts val="1300"/>
              <a:buChar char="●"/>
            </a:pPr>
            <a:r>
              <a:rPr lang="en" sz="1300">
                <a:solidFill>
                  <a:schemeClr val="dk1"/>
                </a:solidFill>
                <a:latin typeface="Times New Roman"/>
                <a:ea typeface="Times New Roman"/>
                <a:cs typeface="Times New Roman"/>
                <a:sym typeface="Times New Roman"/>
              </a:rPr>
              <a:t>Recommends items based on </a:t>
            </a:r>
            <a:r>
              <a:rPr b="1" lang="en" sz="1300">
                <a:solidFill>
                  <a:schemeClr val="dk1"/>
                </a:solidFill>
                <a:latin typeface="Times New Roman"/>
                <a:ea typeface="Times New Roman"/>
                <a:cs typeface="Times New Roman"/>
                <a:sym typeface="Times New Roman"/>
              </a:rPr>
              <a:t>similarity</a:t>
            </a:r>
            <a:r>
              <a:rPr lang="en" sz="1300">
                <a:solidFill>
                  <a:schemeClr val="dk1"/>
                </a:solidFill>
                <a:latin typeface="Times New Roman"/>
                <a:ea typeface="Times New Roman"/>
                <a:cs typeface="Times New Roman"/>
                <a:sym typeface="Times New Roman"/>
              </a:rPr>
              <a:t> between users or items. Core idea: </a:t>
            </a:r>
            <a:r>
              <a:rPr i="1" lang="en" sz="1300">
                <a:solidFill>
                  <a:schemeClr val="dk1"/>
                </a:solidFill>
                <a:latin typeface="Times New Roman"/>
                <a:ea typeface="Times New Roman"/>
                <a:cs typeface="Times New Roman"/>
                <a:sym typeface="Times New Roman"/>
              </a:rPr>
              <a:t>“Users who interacted with similar items will have similar preferences.”</a:t>
            </a:r>
            <a:endParaRPr i="1" sz="1300">
              <a:solidFill>
                <a:schemeClr val="dk1"/>
              </a:solidFill>
              <a:latin typeface="Times New Roman"/>
              <a:ea typeface="Times New Roman"/>
              <a:cs typeface="Times New Roman"/>
              <a:sym typeface="Times New Roman"/>
            </a:endParaRPr>
          </a:p>
          <a:p>
            <a:pPr indent="-311150" lvl="0" marL="457200" rtl="0" algn="just">
              <a:spcBef>
                <a:spcPts val="0"/>
              </a:spcBef>
              <a:spcAft>
                <a:spcPts val="0"/>
              </a:spcAft>
              <a:buClr>
                <a:schemeClr val="dk1"/>
              </a:buClr>
              <a:buSzPts val="1300"/>
              <a:buChar char="●"/>
            </a:pPr>
            <a:r>
              <a:rPr b="1" lang="en" sz="1300">
                <a:solidFill>
                  <a:schemeClr val="dk1"/>
                </a:solidFill>
                <a:latin typeface="Times New Roman"/>
                <a:ea typeface="Times New Roman"/>
                <a:cs typeface="Times New Roman"/>
                <a:sym typeface="Times New Roman"/>
              </a:rPr>
              <a:t>Item–Item CF</a:t>
            </a:r>
            <a:r>
              <a:rPr lang="en" sz="1300">
                <a:solidFill>
                  <a:schemeClr val="dk1"/>
                </a:solidFill>
                <a:latin typeface="Times New Roman"/>
                <a:ea typeface="Times New Roman"/>
                <a:cs typeface="Times New Roman"/>
                <a:sym typeface="Times New Roman"/>
              </a:rPr>
              <a:t> → recommends items similar to those the user already consumed. Build item–user matrix ; Compute cosine similarity between items ; User profile = sum of their interacted item vectors Rank items by similarity to user profile </a:t>
            </a:r>
            <a:br>
              <a:rPr lang="en" sz="1300">
                <a:solidFill>
                  <a:schemeClr val="dk1"/>
                </a:solidFill>
                <a:latin typeface="Times New Roman"/>
                <a:ea typeface="Times New Roman"/>
                <a:cs typeface="Times New Roman"/>
                <a:sym typeface="Times New Roman"/>
              </a:rPr>
            </a:br>
            <a:r>
              <a:rPr lang="en" sz="1300">
                <a:solidFill>
                  <a:schemeClr val="dk1"/>
                </a:solidFill>
                <a:latin typeface="Times New Roman"/>
                <a:ea typeface="Times New Roman"/>
                <a:cs typeface="Times New Roman"/>
                <a:sym typeface="Times New Roman"/>
              </a:rPr>
              <a:t>Variants: Sum profile (best), Mean profile,  IDF-weighted profile</a:t>
            </a:r>
            <a:endParaRPr sz="1300">
              <a:solidFill>
                <a:schemeClr val="dk1"/>
              </a:solidFill>
              <a:latin typeface="Times New Roman"/>
              <a:ea typeface="Times New Roman"/>
              <a:cs typeface="Times New Roman"/>
              <a:sym typeface="Times New Roman"/>
            </a:endParaRPr>
          </a:p>
          <a:p>
            <a:pPr indent="-311150" lvl="0" marL="457200" rtl="0" algn="just">
              <a:spcBef>
                <a:spcPts val="0"/>
              </a:spcBef>
              <a:spcAft>
                <a:spcPts val="0"/>
              </a:spcAft>
              <a:buClr>
                <a:schemeClr val="dk1"/>
              </a:buClr>
              <a:buSzPts val="1300"/>
              <a:buChar char="●"/>
            </a:pPr>
            <a:r>
              <a:rPr b="1" lang="en" sz="1300">
                <a:solidFill>
                  <a:schemeClr val="dk1"/>
                </a:solidFill>
                <a:latin typeface="Times New Roman"/>
                <a:ea typeface="Times New Roman"/>
                <a:cs typeface="Times New Roman"/>
                <a:sym typeface="Times New Roman"/>
              </a:rPr>
              <a:t>Model-based CF</a:t>
            </a:r>
            <a:r>
              <a:rPr lang="en" sz="1300">
                <a:solidFill>
                  <a:schemeClr val="dk1"/>
                </a:solidFill>
                <a:latin typeface="Times New Roman"/>
                <a:ea typeface="Times New Roman"/>
                <a:cs typeface="Times New Roman"/>
                <a:sym typeface="Times New Roman"/>
              </a:rPr>
              <a:t> Reduce user–item matrix into k latent dimensions</a:t>
            </a:r>
            <a:br>
              <a:rPr lang="en" sz="1300">
                <a:solidFill>
                  <a:schemeClr val="dk1"/>
                </a:solidFill>
                <a:latin typeface="Times New Roman"/>
                <a:ea typeface="Times New Roman"/>
                <a:cs typeface="Times New Roman"/>
                <a:sym typeface="Times New Roman"/>
              </a:rPr>
            </a:br>
            <a:r>
              <a:rPr lang="en" sz="1300">
                <a:solidFill>
                  <a:schemeClr val="dk1"/>
                </a:solidFill>
                <a:latin typeface="Times New Roman"/>
                <a:ea typeface="Times New Roman"/>
                <a:cs typeface="Times New Roman"/>
                <a:sym typeface="Times New Roman"/>
              </a:rPr>
              <a:t>Variants: 32 factors, 64 factors, 128 factors Results: Best validation NDCG → 128 dims</a:t>
            </a:r>
            <a:br>
              <a:rPr lang="en" sz="1300">
                <a:solidFill>
                  <a:schemeClr val="dk1"/>
                </a:solidFill>
                <a:latin typeface="Times New Roman"/>
                <a:ea typeface="Times New Roman"/>
                <a:cs typeface="Times New Roman"/>
                <a:sym typeface="Times New Roman"/>
              </a:rPr>
            </a:br>
            <a:endParaRPr sz="1300">
              <a:solidFill>
                <a:schemeClr val="dk1"/>
              </a:solidFill>
              <a:latin typeface="Times New Roman"/>
              <a:ea typeface="Times New Roman"/>
              <a:cs typeface="Times New Roman"/>
              <a:sym typeface="Times New Roman"/>
            </a:endParaRPr>
          </a:p>
          <a:p>
            <a:pPr indent="0" lvl="0" marL="0" rtl="0" algn="just">
              <a:spcBef>
                <a:spcPts val="1200"/>
              </a:spcBef>
              <a:spcAft>
                <a:spcPts val="0"/>
              </a:spcAft>
              <a:buNone/>
            </a:pPr>
            <a:r>
              <a:t/>
            </a:r>
            <a:endParaRPr sz="1300">
              <a:solidFill>
                <a:schemeClr val="dk1"/>
              </a:solidFill>
              <a:latin typeface="Times New Roman"/>
              <a:ea typeface="Times New Roman"/>
              <a:cs typeface="Times New Roman"/>
              <a:sym typeface="Times New Roman"/>
            </a:endParaRPr>
          </a:p>
          <a:p>
            <a:pPr indent="0" lvl="0" marL="0" rtl="0" algn="just">
              <a:spcBef>
                <a:spcPts val="1200"/>
              </a:spcBef>
              <a:spcAft>
                <a:spcPts val="1200"/>
              </a:spcAft>
              <a:buNone/>
            </a:pPr>
            <a:r>
              <a:t/>
            </a:r>
            <a:endParaRPr sz="1300">
              <a:solidFill>
                <a:schemeClr val="dk1"/>
              </a:solidFill>
              <a:latin typeface="Times New Roman"/>
              <a:ea typeface="Times New Roman"/>
              <a:cs typeface="Times New Roman"/>
              <a:sym typeface="Times New Roman"/>
            </a:endParaRPr>
          </a:p>
        </p:txBody>
      </p:sp>
      <p:graphicFrame>
        <p:nvGraphicFramePr>
          <p:cNvPr id="103" name="Google Shape;103;p19"/>
          <p:cNvGraphicFramePr/>
          <p:nvPr/>
        </p:nvGraphicFramePr>
        <p:xfrm>
          <a:off x="586013" y="2861950"/>
          <a:ext cx="3000000" cy="3000000"/>
        </p:xfrm>
        <a:graphic>
          <a:graphicData uri="http://schemas.openxmlformats.org/drawingml/2006/table">
            <a:tbl>
              <a:tblPr>
                <a:noFill/>
                <a:tableStyleId>{0637C82A-1049-4D5A-81DC-EBF57A212903}</a:tableStyleId>
              </a:tblPr>
              <a:tblGrid>
                <a:gridCol w="2657325"/>
                <a:gridCol w="785450"/>
                <a:gridCol w="4529200"/>
              </a:tblGrid>
              <a:tr h="280200">
                <a:tc>
                  <a:txBody>
                    <a:bodyPr/>
                    <a:lstStyle/>
                    <a:p>
                      <a:pPr indent="0" lvl="0" marL="0" rtl="0" algn="ctr">
                        <a:lnSpc>
                          <a:spcPct val="115000"/>
                        </a:lnSpc>
                        <a:spcBef>
                          <a:spcPts val="1200"/>
                        </a:spcBef>
                        <a:spcAft>
                          <a:spcPts val="1200"/>
                        </a:spcAft>
                        <a:buNone/>
                      </a:pPr>
                      <a:r>
                        <a:rPr b="1" lang="en" sz="900">
                          <a:latin typeface="Times New Roman"/>
                          <a:ea typeface="Times New Roman"/>
                          <a:cs typeface="Times New Roman"/>
                          <a:sym typeface="Times New Roman"/>
                        </a:rPr>
                        <a:t>Model Variant</a:t>
                      </a:r>
                      <a:endParaRPr b="1" sz="900">
                        <a:latin typeface="Times New Roman"/>
                        <a:ea typeface="Times New Roman"/>
                        <a:cs typeface="Times New Roman"/>
                        <a:sym typeface="Times New Roman"/>
                      </a:endParaRPr>
                    </a:p>
                  </a:txBody>
                  <a:tcPr marT="91425" marB="91425" marR="68575" marL="68575">
                    <a:lnL cap="flat" cmpd="sng" w="6925">
                      <a:solidFill>
                        <a:srgbClr val="000000"/>
                      </a:solidFill>
                      <a:prstDash val="solid"/>
                      <a:round/>
                      <a:headEnd len="sm" w="sm" type="none"/>
                      <a:tailEnd len="sm" w="sm" type="none"/>
                    </a:lnL>
                    <a:lnR cap="flat" cmpd="sng" w="6925">
                      <a:solidFill>
                        <a:srgbClr val="000000"/>
                      </a:solidFill>
                      <a:prstDash val="solid"/>
                      <a:round/>
                      <a:headEnd len="sm" w="sm" type="none"/>
                      <a:tailEnd len="sm" w="sm" type="none"/>
                    </a:lnR>
                    <a:lnT cap="flat" cmpd="sng" w="6925">
                      <a:solidFill>
                        <a:srgbClr val="000000"/>
                      </a:solidFill>
                      <a:prstDash val="solid"/>
                      <a:round/>
                      <a:headEnd len="sm" w="sm" type="none"/>
                      <a:tailEnd len="sm" w="sm" type="none"/>
                    </a:lnT>
                    <a:lnB cap="flat" cmpd="sng" w="6925">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1200"/>
                        </a:spcAft>
                        <a:buNone/>
                      </a:pPr>
                      <a:r>
                        <a:rPr b="1" lang="en" sz="900">
                          <a:latin typeface="Times New Roman"/>
                          <a:ea typeface="Times New Roman"/>
                          <a:cs typeface="Times New Roman"/>
                          <a:sym typeface="Times New Roman"/>
                        </a:rPr>
                        <a:t>Result</a:t>
                      </a:r>
                      <a:endParaRPr b="1" sz="900">
                        <a:latin typeface="Times New Roman"/>
                        <a:ea typeface="Times New Roman"/>
                        <a:cs typeface="Times New Roman"/>
                        <a:sym typeface="Times New Roman"/>
                      </a:endParaRPr>
                    </a:p>
                  </a:txBody>
                  <a:tcPr marT="91425" marB="91425" marR="68575" marL="68575">
                    <a:lnL cap="flat" cmpd="sng" w="6925">
                      <a:solidFill>
                        <a:srgbClr val="000000"/>
                      </a:solidFill>
                      <a:prstDash val="solid"/>
                      <a:round/>
                      <a:headEnd len="sm" w="sm" type="none"/>
                      <a:tailEnd len="sm" w="sm" type="none"/>
                    </a:lnL>
                    <a:lnR cap="flat" cmpd="sng" w="6925">
                      <a:solidFill>
                        <a:srgbClr val="000000"/>
                      </a:solidFill>
                      <a:prstDash val="solid"/>
                      <a:round/>
                      <a:headEnd len="sm" w="sm" type="none"/>
                      <a:tailEnd len="sm" w="sm" type="none"/>
                    </a:lnR>
                    <a:lnT cap="flat" cmpd="sng" w="6925">
                      <a:solidFill>
                        <a:srgbClr val="000000"/>
                      </a:solidFill>
                      <a:prstDash val="solid"/>
                      <a:round/>
                      <a:headEnd len="sm" w="sm" type="none"/>
                      <a:tailEnd len="sm" w="sm" type="none"/>
                    </a:lnT>
                    <a:lnB cap="flat" cmpd="sng" w="6925">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1200"/>
                        </a:spcAft>
                        <a:buNone/>
                      </a:pPr>
                      <a:r>
                        <a:rPr b="1" lang="en" sz="900">
                          <a:latin typeface="Times New Roman"/>
                          <a:ea typeface="Times New Roman"/>
                          <a:cs typeface="Times New Roman"/>
                          <a:sym typeface="Times New Roman"/>
                        </a:rPr>
                        <a:t>Comments</a:t>
                      </a:r>
                      <a:endParaRPr b="1" sz="900">
                        <a:latin typeface="Times New Roman"/>
                        <a:ea typeface="Times New Roman"/>
                        <a:cs typeface="Times New Roman"/>
                        <a:sym typeface="Times New Roman"/>
                      </a:endParaRPr>
                    </a:p>
                  </a:txBody>
                  <a:tcPr marT="91425" marB="91425" marR="68575" marL="68575">
                    <a:lnL cap="flat" cmpd="sng" w="6925">
                      <a:solidFill>
                        <a:srgbClr val="000000"/>
                      </a:solidFill>
                      <a:prstDash val="solid"/>
                      <a:round/>
                      <a:headEnd len="sm" w="sm" type="none"/>
                      <a:tailEnd len="sm" w="sm" type="none"/>
                    </a:lnL>
                    <a:lnR cap="flat" cmpd="sng" w="6925">
                      <a:solidFill>
                        <a:srgbClr val="000000"/>
                      </a:solidFill>
                      <a:prstDash val="solid"/>
                      <a:round/>
                      <a:headEnd len="sm" w="sm" type="none"/>
                      <a:tailEnd len="sm" w="sm" type="none"/>
                    </a:lnR>
                    <a:lnT cap="flat" cmpd="sng" w="6925">
                      <a:solidFill>
                        <a:srgbClr val="000000"/>
                      </a:solidFill>
                      <a:prstDash val="solid"/>
                      <a:round/>
                      <a:headEnd len="sm" w="sm" type="none"/>
                      <a:tailEnd len="sm" w="sm" type="none"/>
                    </a:lnT>
                    <a:lnB cap="flat" cmpd="sng" w="6925">
                      <a:solidFill>
                        <a:srgbClr val="000000"/>
                      </a:solidFill>
                      <a:prstDash val="solid"/>
                      <a:round/>
                      <a:headEnd len="sm" w="sm" type="none"/>
                      <a:tailEnd len="sm" w="sm" type="none"/>
                    </a:lnB>
                  </a:tcPr>
                </a:tc>
              </a:tr>
              <a:tr h="418300">
                <a:tc>
                  <a:txBody>
                    <a:bodyPr/>
                    <a:lstStyle/>
                    <a:p>
                      <a:pPr indent="0" lvl="0" marL="0" rtl="0" algn="l">
                        <a:lnSpc>
                          <a:spcPct val="115000"/>
                        </a:lnSpc>
                        <a:spcBef>
                          <a:spcPts val="1200"/>
                        </a:spcBef>
                        <a:spcAft>
                          <a:spcPts val="1200"/>
                        </a:spcAft>
                        <a:buNone/>
                      </a:pPr>
                      <a:r>
                        <a:rPr b="1" lang="en" sz="900">
                          <a:latin typeface="Times New Roman"/>
                          <a:ea typeface="Times New Roman"/>
                          <a:cs typeface="Times New Roman"/>
                          <a:sym typeface="Times New Roman"/>
                        </a:rPr>
                        <a:t>Item–Item CF (Cosine, Sum &amp; Mean Profiles)</a:t>
                      </a:r>
                      <a:endParaRPr b="1" sz="900">
                        <a:latin typeface="Times New Roman"/>
                        <a:ea typeface="Times New Roman"/>
                        <a:cs typeface="Times New Roman"/>
                        <a:sym typeface="Times New Roman"/>
                      </a:endParaRPr>
                    </a:p>
                  </a:txBody>
                  <a:tcPr marT="91425" marB="91425" marR="68575" marL="68575">
                    <a:lnL cap="flat" cmpd="sng" w="6925">
                      <a:solidFill>
                        <a:srgbClr val="000000"/>
                      </a:solidFill>
                      <a:prstDash val="solid"/>
                      <a:round/>
                      <a:headEnd len="sm" w="sm" type="none"/>
                      <a:tailEnd len="sm" w="sm" type="none"/>
                    </a:lnL>
                    <a:lnR cap="flat" cmpd="sng" w="6925">
                      <a:solidFill>
                        <a:srgbClr val="000000"/>
                      </a:solidFill>
                      <a:prstDash val="solid"/>
                      <a:round/>
                      <a:headEnd len="sm" w="sm" type="none"/>
                      <a:tailEnd len="sm" w="sm" type="none"/>
                    </a:lnR>
                    <a:lnT cap="flat" cmpd="sng" w="6925">
                      <a:solidFill>
                        <a:srgbClr val="000000"/>
                      </a:solidFill>
                      <a:prstDash val="solid"/>
                      <a:round/>
                      <a:headEnd len="sm" w="sm" type="none"/>
                      <a:tailEnd len="sm" w="sm" type="none"/>
                    </a:lnT>
                    <a:lnB cap="flat" cmpd="sng" w="6925">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b="1" lang="en" sz="900">
                          <a:latin typeface="Times New Roman"/>
                          <a:ea typeface="Times New Roman"/>
                          <a:cs typeface="Times New Roman"/>
                          <a:sym typeface="Times New Roman"/>
                        </a:rPr>
                        <a:t>0.04321</a:t>
                      </a:r>
                      <a:endParaRPr b="1" sz="900">
                        <a:latin typeface="Times New Roman"/>
                        <a:ea typeface="Times New Roman"/>
                        <a:cs typeface="Times New Roman"/>
                        <a:sym typeface="Times New Roman"/>
                      </a:endParaRPr>
                    </a:p>
                  </a:txBody>
                  <a:tcPr marT="91425" marB="91425" marR="68575" marL="68575">
                    <a:lnL cap="flat" cmpd="sng" w="6925">
                      <a:solidFill>
                        <a:srgbClr val="000000"/>
                      </a:solidFill>
                      <a:prstDash val="solid"/>
                      <a:round/>
                      <a:headEnd len="sm" w="sm" type="none"/>
                      <a:tailEnd len="sm" w="sm" type="none"/>
                    </a:lnL>
                    <a:lnR cap="flat" cmpd="sng" w="6925">
                      <a:solidFill>
                        <a:srgbClr val="000000"/>
                      </a:solidFill>
                      <a:prstDash val="solid"/>
                      <a:round/>
                      <a:headEnd len="sm" w="sm" type="none"/>
                      <a:tailEnd len="sm" w="sm" type="none"/>
                    </a:lnR>
                    <a:lnT cap="flat" cmpd="sng" w="6925">
                      <a:solidFill>
                        <a:srgbClr val="000000"/>
                      </a:solidFill>
                      <a:prstDash val="solid"/>
                      <a:round/>
                      <a:headEnd len="sm" w="sm" type="none"/>
                      <a:tailEnd len="sm" w="sm" type="none"/>
                    </a:lnT>
                    <a:lnB cap="flat" cmpd="sng" w="6925">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 sz="900">
                          <a:latin typeface="Times New Roman"/>
                          <a:ea typeface="Times New Roman"/>
                          <a:cs typeface="Times New Roman"/>
                          <a:sym typeface="Times New Roman"/>
                        </a:rPr>
                        <a:t>Both profiles perform identically because cosine similarity depends on vector direction, not magnitude. This makes cosine the strongest and most stable CF variant.</a:t>
                      </a:r>
                      <a:endParaRPr sz="900">
                        <a:latin typeface="Times New Roman"/>
                        <a:ea typeface="Times New Roman"/>
                        <a:cs typeface="Times New Roman"/>
                        <a:sym typeface="Times New Roman"/>
                      </a:endParaRPr>
                    </a:p>
                  </a:txBody>
                  <a:tcPr marT="91425" marB="91425" marR="68575" marL="68575">
                    <a:lnL cap="flat" cmpd="sng" w="6925">
                      <a:solidFill>
                        <a:srgbClr val="000000"/>
                      </a:solidFill>
                      <a:prstDash val="solid"/>
                      <a:round/>
                      <a:headEnd len="sm" w="sm" type="none"/>
                      <a:tailEnd len="sm" w="sm" type="none"/>
                    </a:lnL>
                    <a:lnR cap="flat" cmpd="sng" w="6925">
                      <a:solidFill>
                        <a:srgbClr val="000000"/>
                      </a:solidFill>
                      <a:prstDash val="solid"/>
                      <a:round/>
                      <a:headEnd len="sm" w="sm" type="none"/>
                      <a:tailEnd len="sm" w="sm" type="none"/>
                    </a:lnR>
                    <a:lnT cap="flat" cmpd="sng" w="6925">
                      <a:solidFill>
                        <a:srgbClr val="000000"/>
                      </a:solidFill>
                      <a:prstDash val="solid"/>
                      <a:round/>
                      <a:headEnd len="sm" w="sm" type="none"/>
                      <a:tailEnd len="sm" w="sm" type="none"/>
                    </a:lnT>
                    <a:lnB cap="flat" cmpd="sng" w="6925">
                      <a:solidFill>
                        <a:srgbClr val="000000"/>
                      </a:solidFill>
                      <a:prstDash val="solid"/>
                      <a:round/>
                      <a:headEnd len="sm" w="sm" type="none"/>
                      <a:tailEnd len="sm" w="sm" type="none"/>
                    </a:lnB>
                  </a:tcPr>
                </a:tc>
              </a:tr>
              <a:tr h="418300">
                <a:tc>
                  <a:txBody>
                    <a:bodyPr/>
                    <a:lstStyle/>
                    <a:p>
                      <a:pPr indent="0" lvl="0" marL="0" rtl="0" algn="l">
                        <a:lnSpc>
                          <a:spcPct val="115000"/>
                        </a:lnSpc>
                        <a:spcBef>
                          <a:spcPts val="1200"/>
                        </a:spcBef>
                        <a:spcAft>
                          <a:spcPts val="1200"/>
                        </a:spcAft>
                        <a:buNone/>
                      </a:pPr>
                      <a:r>
                        <a:rPr b="1" lang="en" sz="900">
                          <a:latin typeface="Times New Roman"/>
                          <a:ea typeface="Times New Roman"/>
                          <a:cs typeface="Times New Roman"/>
                          <a:sym typeface="Times New Roman"/>
                        </a:rPr>
                        <a:t>Item–Item CF (Cosine, IDF-Weighted)</a:t>
                      </a:r>
                      <a:endParaRPr b="1" sz="900">
                        <a:latin typeface="Times New Roman"/>
                        <a:ea typeface="Times New Roman"/>
                        <a:cs typeface="Times New Roman"/>
                        <a:sym typeface="Times New Roman"/>
                      </a:endParaRPr>
                    </a:p>
                  </a:txBody>
                  <a:tcPr marT="91425" marB="91425" marR="68575" marL="68575">
                    <a:lnL cap="flat" cmpd="sng" w="6925">
                      <a:solidFill>
                        <a:srgbClr val="000000"/>
                      </a:solidFill>
                      <a:prstDash val="solid"/>
                      <a:round/>
                      <a:headEnd len="sm" w="sm" type="none"/>
                      <a:tailEnd len="sm" w="sm" type="none"/>
                    </a:lnL>
                    <a:lnR cap="flat" cmpd="sng" w="6925">
                      <a:solidFill>
                        <a:srgbClr val="000000"/>
                      </a:solidFill>
                      <a:prstDash val="solid"/>
                      <a:round/>
                      <a:headEnd len="sm" w="sm" type="none"/>
                      <a:tailEnd len="sm" w="sm" type="none"/>
                    </a:lnR>
                    <a:lnT cap="flat" cmpd="sng" w="6925">
                      <a:solidFill>
                        <a:srgbClr val="000000"/>
                      </a:solidFill>
                      <a:prstDash val="solid"/>
                      <a:round/>
                      <a:headEnd len="sm" w="sm" type="none"/>
                      <a:tailEnd len="sm" w="sm" type="none"/>
                    </a:lnT>
                    <a:lnB cap="flat" cmpd="sng" w="6925">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 sz="900">
                          <a:latin typeface="Times New Roman"/>
                          <a:ea typeface="Times New Roman"/>
                          <a:cs typeface="Times New Roman"/>
                          <a:sym typeface="Times New Roman"/>
                        </a:rPr>
                        <a:t>0.027495</a:t>
                      </a:r>
                      <a:endParaRPr sz="900">
                        <a:latin typeface="Times New Roman"/>
                        <a:ea typeface="Times New Roman"/>
                        <a:cs typeface="Times New Roman"/>
                        <a:sym typeface="Times New Roman"/>
                      </a:endParaRPr>
                    </a:p>
                  </a:txBody>
                  <a:tcPr marT="91425" marB="91425" marR="68575" marL="68575">
                    <a:lnL cap="flat" cmpd="sng" w="6925">
                      <a:solidFill>
                        <a:srgbClr val="000000"/>
                      </a:solidFill>
                      <a:prstDash val="solid"/>
                      <a:round/>
                      <a:headEnd len="sm" w="sm" type="none"/>
                      <a:tailEnd len="sm" w="sm" type="none"/>
                    </a:lnL>
                    <a:lnR cap="flat" cmpd="sng" w="6925">
                      <a:solidFill>
                        <a:srgbClr val="000000"/>
                      </a:solidFill>
                      <a:prstDash val="solid"/>
                      <a:round/>
                      <a:headEnd len="sm" w="sm" type="none"/>
                      <a:tailEnd len="sm" w="sm" type="none"/>
                    </a:lnR>
                    <a:lnT cap="flat" cmpd="sng" w="6925">
                      <a:solidFill>
                        <a:srgbClr val="000000"/>
                      </a:solidFill>
                      <a:prstDash val="solid"/>
                      <a:round/>
                      <a:headEnd len="sm" w="sm" type="none"/>
                      <a:tailEnd len="sm" w="sm" type="none"/>
                    </a:lnT>
                    <a:lnB cap="flat" cmpd="sng" w="6925">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 sz="900">
                          <a:latin typeface="Times New Roman"/>
                          <a:ea typeface="Times New Roman"/>
                          <a:cs typeface="Times New Roman"/>
                          <a:sym typeface="Times New Roman"/>
                        </a:rPr>
                        <a:t>Down-weighting popular items removed meaningful collaborative signal, leading to slightly weaker performance.</a:t>
                      </a:r>
                      <a:endParaRPr sz="900">
                        <a:latin typeface="Times New Roman"/>
                        <a:ea typeface="Times New Roman"/>
                        <a:cs typeface="Times New Roman"/>
                        <a:sym typeface="Times New Roman"/>
                      </a:endParaRPr>
                    </a:p>
                  </a:txBody>
                  <a:tcPr marT="91425" marB="91425" marR="68575" marL="68575">
                    <a:lnL cap="flat" cmpd="sng" w="6925">
                      <a:solidFill>
                        <a:srgbClr val="000000"/>
                      </a:solidFill>
                      <a:prstDash val="solid"/>
                      <a:round/>
                      <a:headEnd len="sm" w="sm" type="none"/>
                      <a:tailEnd len="sm" w="sm" type="none"/>
                    </a:lnL>
                    <a:lnR cap="flat" cmpd="sng" w="6925">
                      <a:solidFill>
                        <a:srgbClr val="000000"/>
                      </a:solidFill>
                      <a:prstDash val="solid"/>
                      <a:round/>
                      <a:headEnd len="sm" w="sm" type="none"/>
                      <a:tailEnd len="sm" w="sm" type="none"/>
                    </a:lnR>
                    <a:lnT cap="flat" cmpd="sng" w="6925">
                      <a:solidFill>
                        <a:srgbClr val="000000"/>
                      </a:solidFill>
                      <a:prstDash val="solid"/>
                      <a:round/>
                      <a:headEnd len="sm" w="sm" type="none"/>
                      <a:tailEnd len="sm" w="sm" type="none"/>
                    </a:lnT>
                    <a:lnB cap="flat" cmpd="sng" w="6925">
                      <a:solidFill>
                        <a:srgbClr val="000000"/>
                      </a:solidFill>
                      <a:prstDash val="solid"/>
                      <a:round/>
                      <a:headEnd len="sm" w="sm" type="none"/>
                      <a:tailEnd len="sm" w="sm" type="none"/>
                    </a:lnB>
                  </a:tcPr>
                </a:tc>
              </a:tr>
              <a:tr h="280200">
                <a:tc>
                  <a:txBody>
                    <a:bodyPr/>
                    <a:lstStyle/>
                    <a:p>
                      <a:pPr indent="0" lvl="0" marL="0" rtl="0" algn="l">
                        <a:lnSpc>
                          <a:spcPct val="115000"/>
                        </a:lnSpc>
                        <a:spcBef>
                          <a:spcPts val="1200"/>
                        </a:spcBef>
                        <a:spcAft>
                          <a:spcPts val="1200"/>
                        </a:spcAft>
                        <a:buNone/>
                      </a:pPr>
                      <a:r>
                        <a:rPr b="1" lang="en" sz="900">
                          <a:latin typeface="Times New Roman"/>
                          <a:ea typeface="Times New Roman"/>
                          <a:cs typeface="Times New Roman"/>
                          <a:sym typeface="Times New Roman"/>
                        </a:rPr>
                        <a:t>Truncated SVD (32 Components)</a:t>
                      </a:r>
                      <a:endParaRPr b="1" sz="900">
                        <a:latin typeface="Times New Roman"/>
                        <a:ea typeface="Times New Roman"/>
                        <a:cs typeface="Times New Roman"/>
                        <a:sym typeface="Times New Roman"/>
                      </a:endParaRPr>
                    </a:p>
                  </a:txBody>
                  <a:tcPr marT="91425" marB="91425" marR="68575" marL="68575">
                    <a:lnL cap="flat" cmpd="sng" w="6925">
                      <a:solidFill>
                        <a:srgbClr val="000000"/>
                      </a:solidFill>
                      <a:prstDash val="solid"/>
                      <a:round/>
                      <a:headEnd len="sm" w="sm" type="none"/>
                      <a:tailEnd len="sm" w="sm" type="none"/>
                    </a:lnL>
                    <a:lnR cap="flat" cmpd="sng" w="6925">
                      <a:solidFill>
                        <a:srgbClr val="000000"/>
                      </a:solidFill>
                      <a:prstDash val="solid"/>
                      <a:round/>
                      <a:headEnd len="sm" w="sm" type="none"/>
                      <a:tailEnd len="sm" w="sm" type="none"/>
                    </a:lnR>
                    <a:lnT cap="flat" cmpd="sng" w="6925">
                      <a:solidFill>
                        <a:srgbClr val="000000"/>
                      </a:solidFill>
                      <a:prstDash val="solid"/>
                      <a:round/>
                      <a:headEnd len="sm" w="sm" type="none"/>
                      <a:tailEnd len="sm" w="sm" type="none"/>
                    </a:lnT>
                    <a:lnB cap="flat" cmpd="sng" w="6925">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 sz="900">
                          <a:latin typeface="Times New Roman"/>
                          <a:ea typeface="Times New Roman"/>
                          <a:cs typeface="Times New Roman"/>
                          <a:sym typeface="Times New Roman"/>
                        </a:rPr>
                        <a:t>0.022373</a:t>
                      </a:r>
                      <a:endParaRPr sz="900">
                        <a:latin typeface="Times New Roman"/>
                        <a:ea typeface="Times New Roman"/>
                        <a:cs typeface="Times New Roman"/>
                        <a:sym typeface="Times New Roman"/>
                      </a:endParaRPr>
                    </a:p>
                  </a:txBody>
                  <a:tcPr marT="91425" marB="91425" marR="68575" marL="68575">
                    <a:lnL cap="flat" cmpd="sng" w="6925">
                      <a:solidFill>
                        <a:srgbClr val="000000"/>
                      </a:solidFill>
                      <a:prstDash val="solid"/>
                      <a:round/>
                      <a:headEnd len="sm" w="sm" type="none"/>
                      <a:tailEnd len="sm" w="sm" type="none"/>
                    </a:lnL>
                    <a:lnR cap="flat" cmpd="sng" w="6925">
                      <a:solidFill>
                        <a:srgbClr val="000000"/>
                      </a:solidFill>
                      <a:prstDash val="solid"/>
                      <a:round/>
                      <a:headEnd len="sm" w="sm" type="none"/>
                      <a:tailEnd len="sm" w="sm" type="none"/>
                    </a:lnR>
                    <a:lnT cap="flat" cmpd="sng" w="6925">
                      <a:solidFill>
                        <a:srgbClr val="000000"/>
                      </a:solidFill>
                      <a:prstDash val="solid"/>
                      <a:round/>
                      <a:headEnd len="sm" w="sm" type="none"/>
                      <a:tailEnd len="sm" w="sm" type="none"/>
                    </a:lnT>
                    <a:lnB cap="flat" cmpd="sng" w="6925">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 sz="900">
                          <a:latin typeface="Times New Roman"/>
                          <a:ea typeface="Times New Roman"/>
                          <a:cs typeface="Times New Roman"/>
                          <a:sym typeface="Times New Roman"/>
                        </a:rPr>
                        <a:t>Lower-dimensional embedding underfits interactions.</a:t>
                      </a:r>
                      <a:endParaRPr sz="900">
                        <a:latin typeface="Times New Roman"/>
                        <a:ea typeface="Times New Roman"/>
                        <a:cs typeface="Times New Roman"/>
                        <a:sym typeface="Times New Roman"/>
                      </a:endParaRPr>
                    </a:p>
                  </a:txBody>
                  <a:tcPr marT="91425" marB="91425" marR="68575" marL="68575">
                    <a:lnL cap="flat" cmpd="sng" w="6925">
                      <a:solidFill>
                        <a:srgbClr val="000000"/>
                      </a:solidFill>
                      <a:prstDash val="solid"/>
                      <a:round/>
                      <a:headEnd len="sm" w="sm" type="none"/>
                      <a:tailEnd len="sm" w="sm" type="none"/>
                    </a:lnL>
                    <a:lnR cap="flat" cmpd="sng" w="6925">
                      <a:solidFill>
                        <a:srgbClr val="000000"/>
                      </a:solidFill>
                      <a:prstDash val="solid"/>
                      <a:round/>
                      <a:headEnd len="sm" w="sm" type="none"/>
                      <a:tailEnd len="sm" w="sm" type="none"/>
                    </a:lnR>
                    <a:lnT cap="flat" cmpd="sng" w="6925">
                      <a:solidFill>
                        <a:srgbClr val="000000"/>
                      </a:solidFill>
                      <a:prstDash val="solid"/>
                      <a:round/>
                      <a:headEnd len="sm" w="sm" type="none"/>
                      <a:tailEnd len="sm" w="sm" type="none"/>
                    </a:lnT>
                    <a:lnB cap="flat" cmpd="sng" w="6925">
                      <a:solidFill>
                        <a:srgbClr val="000000"/>
                      </a:solidFill>
                      <a:prstDash val="solid"/>
                      <a:round/>
                      <a:headEnd len="sm" w="sm" type="none"/>
                      <a:tailEnd len="sm" w="sm" type="none"/>
                    </a:lnB>
                  </a:tcPr>
                </a:tc>
              </a:tr>
              <a:tr h="280200">
                <a:tc>
                  <a:txBody>
                    <a:bodyPr/>
                    <a:lstStyle/>
                    <a:p>
                      <a:pPr indent="0" lvl="0" marL="0" rtl="0" algn="l">
                        <a:lnSpc>
                          <a:spcPct val="115000"/>
                        </a:lnSpc>
                        <a:spcBef>
                          <a:spcPts val="1200"/>
                        </a:spcBef>
                        <a:spcAft>
                          <a:spcPts val="1200"/>
                        </a:spcAft>
                        <a:buNone/>
                      </a:pPr>
                      <a:r>
                        <a:rPr b="1" lang="en" sz="900">
                          <a:latin typeface="Times New Roman"/>
                          <a:ea typeface="Times New Roman"/>
                          <a:cs typeface="Times New Roman"/>
                          <a:sym typeface="Times New Roman"/>
                        </a:rPr>
                        <a:t>Truncated SVD (64 Components)</a:t>
                      </a:r>
                      <a:endParaRPr b="1" sz="900">
                        <a:latin typeface="Times New Roman"/>
                        <a:ea typeface="Times New Roman"/>
                        <a:cs typeface="Times New Roman"/>
                        <a:sym typeface="Times New Roman"/>
                      </a:endParaRPr>
                    </a:p>
                  </a:txBody>
                  <a:tcPr marT="91425" marB="91425" marR="68575" marL="68575">
                    <a:lnL cap="flat" cmpd="sng" w="6925">
                      <a:solidFill>
                        <a:srgbClr val="000000"/>
                      </a:solidFill>
                      <a:prstDash val="solid"/>
                      <a:round/>
                      <a:headEnd len="sm" w="sm" type="none"/>
                      <a:tailEnd len="sm" w="sm" type="none"/>
                    </a:lnL>
                    <a:lnR cap="flat" cmpd="sng" w="6925">
                      <a:solidFill>
                        <a:srgbClr val="000000"/>
                      </a:solidFill>
                      <a:prstDash val="solid"/>
                      <a:round/>
                      <a:headEnd len="sm" w="sm" type="none"/>
                      <a:tailEnd len="sm" w="sm" type="none"/>
                    </a:lnR>
                    <a:lnT cap="flat" cmpd="sng" w="6925">
                      <a:solidFill>
                        <a:srgbClr val="000000"/>
                      </a:solidFill>
                      <a:prstDash val="solid"/>
                      <a:round/>
                      <a:headEnd len="sm" w="sm" type="none"/>
                      <a:tailEnd len="sm" w="sm" type="none"/>
                    </a:lnT>
                    <a:lnB cap="flat" cmpd="sng" w="6925">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b="1" lang="en" sz="900">
                          <a:latin typeface="Times New Roman"/>
                          <a:ea typeface="Times New Roman"/>
                          <a:cs typeface="Times New Roman"/>
                          <a:sym typeface="Times New Roman"/>
                        </a:rPr>
                        <a:t>0.023711</a:t>
                      </a:r>
                      <a:endParaRPr b="1" sz="900">
                        <a:latin typeface="Times New Roman"/>
                        <a:ea typeface="Times New Roman"/>
                        <a:cs typeface="Times New Roman"/>
                        <a:sym typeface="Times New Roman"/>
                      </a:endParaRPr>
                    </a:p>
                  </a:txBody>
                  <a:tcPr marT="91425" marB="91425" marR="68575" marL="68575">
                    <a:lnL cap="flat" cmpd="sng" w="6925">
                      <a:solidFill>
                        <a:srgbClr val="000000"/>
                      </a:solidFill>
                      <a:prstDash val="solid"/>
                      <a:round/>
                      <a:headEnd len="sm" w="sm" type="none"/>
                      <a:tailEnd len="sm" w="sm" type="none"/>
                    </a:lnL>
                    <a:lnR cap="flat" cmpd="sng" w="6925">
                      <a:solidFill>
                        <a:srgbClr val="000000"/>
                      </a:solidFill>
                      <a:prstDash val="solid"/>
                      <a:round/>
                      <a:headEnd len="sm" w="sm" type="none"/>
                      <a:tailEnd len="sm" w="sm" type="none"/>
                    </a:lnR>
                    <a:lnT cap="flat" cmpd="sng" w="6925">
                      <a:solidFill>
                        <a:srgbClr val="000000"/>
                      </a:solidFill>
                      <a:prstDash val="solid"/>
                      <a:round/>
                      <a:headEnd len="sm" w="sm" type="none"/>
                      <a:tailEnd len="sm" w="sm" type="none"/>
                    </a:lnT>
                    <a:lnB cap="flat" cmpd="sng" w="6925">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 sz="900">
                          <a:latin typeface="Times New Roman"/>
                          <a:ea typeface="Times New Roman"/>
                          <a:cs typeface="Times New Roman"/>
                          <a:sym typeface="Times New Roman"/>
                        </a:rPr>
                        <a:t>Best SVD variant; good balance between variance captured and overfitting.</a:t>
                      </a:r>
                      <a:endParaRPr sz="900">
                        <a:latin typeface="Times New Roman"/>
                        <a:ea typeface="Times New Roman"/>
                        <a:cs typeface="Times New Roman"/>
                        <a:sym typeface="Times New Roman"/>
                      </a:endParaRPr>
                    </a:p>
                  </a:txBody>
                  <a:tcPr marT="91425" marB="91425" marR="68575" marL="68575">
                    <a:lnL cap="flat" cmpd="sng" w="6925">
                      <a:solidFill>
                        <a:srgbClr val="000000"/>
                      </a:solidFill>
                      <a:prstDash val="solid"/>
                      <a:round/>
                      <a:headEnd len="sm" w="sm" type="none"/>
                      <a:tailEnd len="sm" w="sm" type="none"/>
                    </a:lnL>
                    <a:lnR cap="flat" cmpd="sng" w="6925">
                      <a:solidFill>
                        <a:srgbClr val="000000"/>
                      </a:solidFill>
                      <a:prstDash val="solid"/>
                      <a:round/>
                      <a:headEnd len="sm" w="sm" type="none"/>
                      <a:tailEnd len="sm" w="sm" type="none"/>
                    </a:lnR>
                    <a:lnT cap="flat" cmpd="sng" w="6925">
                      <a:solidFill>
                        <a:srgbClr val="000000"/>
                      </a:solidFill>
                      <a:prstDash val="solid"/>
                      <a:round/>
                      <a:headEnd len="sm" w="sm" type="none"/>
                      <a:tailEnd len="sm" w="sm" type="none"/>
                    </a:lnT>
                    <a:lnB cap="flat" cmpd="sng" w="6925">
                      <a:solidFill>
                        <a:srgbClr val="000000"/>
                      </a:solidFill>
                      <a:prstDash val="solid"/>
                      <a:round/>
                      <a:headEnd len="sm" w="sm" type="none"/>
                      <a:tailEnd len="sm" w="sm" type="none"/>
                    </a:lnB>
                  </a:tcPr>
                </a:tc>
              </a:tr>
              <a:tr h="280200">
                <a:tc>
                  <a:txBody>
                    <a:bodyPr/>
                    <a:lstStyle/>
                    <a:p>
                      <a:pPr indent="0" lvl="0" marL="0" rtl="0" algn="l">
                        <a:lnSpc>
                          <a:spcPct val="115000"/>
                        </a:lnSpc>
                        <a:spcBef>
                          <a:spcPts val="1200"/>
                        </a:spcBef>
                        <a:spcAft>
                          <a:spcPts val="1200"/>
                        </a:spcAft>
                        <a:buNone/>
                      </a:pPr>
                      <a:r>
                        <a:rPr b="1" lang="en" sz="900">
                          <a:latin typeface="Times New Roman"/>
                          <a:ea typeface="Times New Roman"/>
                          <a:cs typeface="Times New Roman"/>
                          <a:sym typeface="Times New Roman"/>
                        </a:rPr>
                        <a:t>Truncated SVD (128 Components)</a:t>
                      </a:r>
                      <a:endParaRPr b="1" sz="900">
                        <a:latin typeface="Times New Roman"/>
                        <a:ea typeface="Times New Roman"/>
                        <a:cs typeface="Times New Roman"/>
                        <a:sym typeface="Times New Roman"/>
                      </a:endParaRPr>
                    </a:p>
                  </a:txBody>
                  <a:tcPr marT="91425" marB="91425" marR="68575" marL="68575">
                    <a:lnL cap="flat" cmpd="sng" w="6925">
                      <a:solidFill>
                        <a:srgbClr val="000000"/>
                      </a:solidFill>
                      <a:prstDash val="solid"/>
                      <a:round/>
                      <a:headEnd len="sm" w="sm" type="none"/>
                      <a:tailEnd len="sm" w="sm" type="none"/>
                    </a:lnL>
                    <a:lnR cap="flat" cmpd="sng" w="6925">
                      <a:solidFill>
                        <a:srgbClr val="000000"/>
                      </a:solidFill>
                      <a:prstDash val="solid"/>
                      <a:round/>
                      <a:headEnd len="sm" w="sm" type="none"/>
                      <a:tailEnd len="sm" w="sm" type="none"/>
                    </a:lnR>
                    <a:lnT cap="flat" cmpd="sng" w="6925">
                      <a:solidFill>
                        <a:srgbClr val="000000"/>
                      </a:solidFill>
                      <a:prstDash val="solid"/>
                      <a:round/>
                      <a:headEnd len="sm" w="sm" type="none"/>
                      <a:tailEnd len="sm" w="sm" type="none"/>
                    </a:lnT>
                    <a:lnB cap="flat" cmpd="sng" w="6925">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 sz="900">
                          <a:latin typeface="Times New Roman"/>
                          <a:ea typeface="Times New Roman"/>
                          <a:cs typeface="Times New Roman"/>
                          <a:sym typeface="Times New Roman"/>
                        </a:rPr>
                        <a:t>0.026600</a:t>
                      </a:r>
                      <a:endParaRPr sz="900">
                        <a:latin typeface="Times New Roman"/>
                        <a:ea typeface="Times New Roman"/>
                        <a:cs typeface="Times New Roman"/>
                        <a:sym typeface="Times New Roman"/>
                      </a:endParaRPr>
                    </a:p>
                  </a:txBody>
                  <a:tcPr marT="91425" marB="91425" marR="68575" marL="68575">
                    <a:lnL cap="flat" cmpd="sng" w="6925">
                      <a:solidFill>
                        <a:srgbClr val="000000"/>
                      </a:solidFill>
                      <a:prstDash val="solid"/>
                      <a:round/>
                      <a:headEnd len="sm" w="sm" type="none"/>
                      <a:tailEnd len="sm" w="sm" type="none"/>
                    </a:lnL>
                    <a:lnR cap="flat" cmpd="sng" w="6925">
                      <a:solidFill>
                        <a:srgbClr val="000000"/>
                      </a:solidFill>
                      <a:prstDash val="solid"/>
                      <a:round/>
                      <a:headEnd len="sm" w="sm" type="none"/>
                      <a:tailEnd len="sm" w="sm" type="none"/>
                    </a:lnR>
                    <a:lnT cap="flat" cmpd="sng" w="6925">
                      <a:solidFill>
                        <a:srgbClr val="000000"/>
                      </a:solidFill>
                      <a:prstDash val="solid"/>
                      <a:round/>
                      <a:headEnd len="sm" w="sm" type="none"/>
                      <a:tailEnd len="sm" w="sm" type="none"/>
                    </a:lnT>
                    <a:lnB cap="flat" cmpd="sng" w="6925">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 sz="900">
                          <a:latin typeface="Times New Roman"/>
                          <a:ea typeface="Times New Roman"/>
                          <a:cs typeface="Times New Roman"/>
                          <a:sym typeface="Times New Roman"/>
                        </a:rPr>
                        <a:t>Higher dimension introduces noise and does not improve ranking.</a:t>
                      </a:r>
                      <a:endParaRPr sz="900">
                        <a:latin typeface="Times New Roman"/>
                        <a:ea typeface="Times New Roman"/>
                        <a:cs typeface="Times New Roman"/>
                        <a:sym typeface="Times New Roman"/>
                      </a:endParaRPr>
                    </a:p>
                  </a:txBody>
                  <a:tcPr marT="91425" marB="91425" marR="68575" marL="68575">
                    <a:lnL cap="flat" cmpd="sng" w="6925">
                      <a:solidFill>
                        <a:srgbClr val="000000"/>
                      </a:solidFill>
                      <a:prstDash val="solid"/>
                      <a:round/>
                      <a:headEnd len="sm" w="sm" type="none"/>
                      <a:tailEnd len="sm" w="sm" type="none"/>
                    </a:lnL>
                    <a:lnR cap="flat" cmpd="sng" w="6925">
                      <a:solidFill>
                        <a:srgbClr val="000000"/>
                      </a:solidFill>
                      <a:prstDash val="solid"/>
                      <a:round/>
                      <a:headEnd len="sm" w="sm" type="none"/>
                      <a:tailEnd len="sm" w="sm" type="none"/>
                    </a:lnR>
                    <a:lnT cap="flat" cmpd="sng" w="6925">
                      <a:solidFill>
                        <a:srgbClr val="000000"/>
                      </a:solidFill>
                      <a:prstDash val="solid"/>
                      <a:round/>
                      <a:headEnd len="sm" w="sm" type="none"/>
                      <a:tailEnd len="sm" w="sm" type="none"/>
                    </a:lnT>
                    <a:lnB cap="flat" cmpd="sng" w="6925">
                      <a:solidFill>
                        <a:srgbClr val="000000"/>
                      </a:solidFill>
                      <a:prstDash val="solid"/>
                      <a:round/>
                      <a:headEnd len="sm" w="sm" type="none"/>
                      <a:tailEnd len="sm" w="sm" type="none"/>
                    </a:lnB>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0"/>
          <p:cNvSpPr txBox="1"/>
          <p:nvPr>
            <p:ph type="title"/>
          </p:nvPr>
        </p:nvSpPr>
        <p:spPr>
          <a:xfrm>
            <a:off x="248200" y="993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Times New Roman"/>
                <a:ea typeface="Times New Roman"/>
                <a:cs typeface="Times New Roman"/>
                <a:sym typeface="Times New Roman"/>
              </a:rPr>
              <a:t>Comparison</a:t>
            </a:r>
            <a:r>
              <a:rPr lang="en">
                <a:latin typeface="Times New Roman"/>
                <a:ea typeface="Times New Roman"/>
                <a:cs typeface="Times New Roman"/>
                <a:sym typeface="Times New Roman"/>
              </a:rPr>
              <a:t> of Models</a:t>
            </a:r>
            <a:endParaRPr>
              <a:latin typeface="Times New Roman"/>
              <a:ea typeface="Times New Roman"/>
              <a:cs typeface="Times New Roman"/>
              <a:sym typeface="Times New Roman"/>
            </a:endParaRPr>
          </a:p>
        </p:txBody>
      </p:sp>
      <p:sp>
        <p:nvSpPr>
          <p:cNvPr id="109" name="Google Shape;109;p20"/>
          <p:cNvSpPr txBox="1"/>
          <p:nvPr>
            <p:ph idx="1" type="body"/>
          </p:nvPr>
        </p:nvSpPr>
        <p:spPr>
          <a:xfrm>
            <a:off x="216400" y="672025"/>
            <a:ext cx="8584200" cy="4358100"/>
          </a:xfrm>
          <a:prstGeom prst="rect">
            <a:avLst/>
          </a:prstGeom>
        </p:spPr>
        <p:txBody>
          <a:bodyPr anchorCtr="0" anchor="t" bIns="91425" lIns="91425" spcFirstLastPara="1" rIns="91425" wrap="square" tIns="91425">
            <a:noAutofit/>
          </a:bodyPr>
          <a:lstStyle/>
          <a:p>
            <a:pPr indent="0" lvl="0" marL="0" rtl="0" algn="just">
              <a:lnSpc>
                <a:spcPct val="105000"/>
              </a:lnSpc>
              <a:spcBef>
                <a:spcPts val="1400"/>
              </a:spcBef>
              <a:spcAft>
                <a:spcPts val="0"/>
              </a:spcAft>
              <a:buSzPts val="523"/>
              <a:buNone/>
            </a:pPr>
            <a:r>
              <a:rPr b="1" lang="en" sz="1300">
                <a:solidFill>
                  <a:schemeClr val="dk1"/>
                </a:solidFill>
                <a:latin typeface="Times New Roman"/>
                <a:ea typeface="Times New Roman"/>
                <a:cs typeface="Times New Roman"/>
                <a:sym typeface="Times New Roman"/>
              </a:rPr>
              <a:t>LightGCN vs. ALS</a:t>
            </a:r>
            <a:endParaRPr b="1" sz="1300">
              <a:solidFill>
                <a:schemeClr val="dk1"/>
              </a:solidFill>
              <a:latin typeface="Times New Roman"/>
              <a:ea typeface="Times New Roman"/>
              <a:cs typeface="Times New Roman"/>
              <a:sym typeface="Times New Roman"/>
            </a:endParaRPr>
          </a:p>
          <a:p>
            <a:pPr indent="-311150" lvl="0" marL="457200" rtl="0" algn="just">
              <a:lnSpc>
                <a:spcPct val="105000"/>
              </a:lnSpc>
              <a:spcBef>
                <a:spcPts val="1200"/>
              </a:spcBef>
              <a:spcAft>
                <a:spcPts val="0"/>
              </a:spcAft>
              <a:buClr>
                <a:schemeClr val="dk1"/>
              </a:buClr>
              <a:buSzPts val="1300"/>
              <a:buFont typeface="Times New Roman"/>
              <a:buChar char="●"/>
            </a:pPr>
            <a:r>
              <a:rPr lang="en" sz="1300">
                <a:solidFill>
                  <a:schemeClr val="dk1"/>
                </a:solidFill>
                <a:latin typeface="Times New Roman"/>
                <a:ea typeface="Times New Roman"/>
                <a:cs typeface="Times New Roman"/>
                <a:sym typeface="Times New Roman"/>
              </a:rPr>
              <a:t>While LightGCN effectively captured multi-hop user–item relationships, ALS achieved better overall prediction on this dataset due to its strong latent factor modeling.</a:t>
            </a:r>
            <a:endParaRPr sz="1300">
              <a:solidFill>
                <a:schemeClr val="dk1"/>
              </a:solidFill>
              <a:latin typeface="Times New Roman"/>
              <a:ea typeface="Times New Roman"/>
              <a:cs typeface="Times New Roman"/>
              <a:sym typeface="Times New Roman"/>
            </a:endParaRPr>
          </a:p>
          <a:p>
            <a:pPr indent="-311150" lvl="0" marL="457200" rtl="0" algn="just">
              <a:lnSpc>
                <a:spcPct val="105000"/>
              </a:lnSpc>
              <a:spcBef>
                <a:spcPts val="0"/>
              </a:spcBef>
              <a:spcAft>
                <a:spcPts val="0"/>
              </a:spcAft>
              <a:buClr>
                <a:schemeClr val="dk1"/>
              </a:buClr>
              <a:buSzPts val="1300"/>
              <a:buFont typeface="Times New Roman"/>
              <a:buChar char="●"/>
            </a:pPr>
            <a:r>
              <a:rPr lang="en" sz="1300">
                <a:solidFill>
                  <a:schemeClr val="dk1"/>
                </a:solidFill>
                <a:latin typeface="Times New Roman"/>
                <a:ea typeface="Times New Roman"/>
                <a:cs typeface="Times New Roman"/>
                <a:sym typeface="Times New Roman"/>
              </a:rPr>
              <a:t>ALS handled the dataset’s extreme sparsity more robustly by leveraging confidence-weighted matrix factorization, resulting in more stable and consistent embeddings.</a:t>
            </a:r>
            <a:endParaRPr sz="1300">
              <a:solidFill>
                <a:schemeClr val="dk1"/>
              </a:solidFill>
              <a:latin typeface="Times New Roman"/>
              <a:ea typeface="Times New Roman"/>
              <a:cs typeface="Times New Roman"/>
              <a:sym typeface="Times New Roman"/>
            </a:endParaRPr>
          </a:p>
          <a:p>
            <a:pPr indent="-311150" lvl="0" marL="457200" rtl="0" algn="just">
              <a:lnSpc>
                <a:spcPct val="105000"/>
              </a:lnSpc>
              <a:spcBef>
                <a:spcPts val="0"/>
              </a:spcBef>
              <a:spcAft>
                <a:spcPts val="0"/>
              </a:spcAft>
              <a:buClr>
                <a:schemeClr val="dk1"/>
              </a:buClr>
              <a:buSzPts val="1300"/>
              <a:buFont typeface="Times New Roman"/>
              <a:buChar char="●"/>
            </a:pPr>
            <a:r>
              <a:rPr lang="en" sz="1300">
                <a:solidFill>
                  <a:schemeClr val="dk1"/>
                </a:solidFill>
                <a:latin typeface="Times New Roman"/>
                <a:ea typeface="Times New Roman"/>
                <a:cs typeface="Times New Roman"/>
                <a:sym typeface="Times New Roman"/>
              </a:rPr>
              <a:t>LightGCN benefited from graph propagation but was more sensitive to hyperparameters and required deeper tuning, whereas ALS converged faster and produced higher-quality recommendations with simpler optimization.</a:t>
            </a:r>
            <a:endParaRPr sz="1300">
              <a:solidFill>
                <a:schemeClr val="dk1"/>
              </a:solidFill>
              <a:latin typeface="Times New Roman"/>
              <a:ea typeface="Times New Roman"/>
              <a:cs typeface="Times New Roman"/>
              <a:sym typeface="Times New Roman"/>
            </a:endParaRPr>
          </a:p>
          <a:p>
            <a:pPr indent="-311150" lvl="0" marL="457200" rtl="0" algn="just">
              <a:lnSpc>
                <a:spcPct val="105000"/>
              </a:lnSpc>
              <a:spcBef>
                <a:spcPts val="0"/>
              </a:spcBef>
              <a:spcAft>
                <a:spcPts val="0"/>
              </a:spcAft>
              <a:buClr>
                <a:schemeClr val="dk1"/>
              </a:buClr>
              <a:buSzPts val="1300"/>
              <a:buFont typeface="Times New Roman"/>
              <a:buChar char="●"/>
            </a:pPr>
            <a:r>
              <a:rPr lang="en" sz="1300">
                <a:solidFill>
                  <a:schemeClr val="dk1"/>
                </a:solidFill>
                <a:latin typeface="Times New Roman"/>
                <a:ea typeface="Times New Roman"/>
                <a:cs typeface="Times New Roman"/>
                <a:sym typeface="Times New Roman"/>
              </a:rPr>
              <a:t>Overall, although LightGCN is efficient and modern, ALS outperformed it on this dataset in terms of ranking quality and generalization.</a:t>
            </a:r>
            <a:endParaRPr sz="1300">
              <a:latin typeface="Times New Roman"/>
              <a:ea typeface="Times New Roman"/>
              <a:cs typeface="Times New Roman"/>
              <a:sym typeface="Times New Roman"/>
            </a:endParaRPr>
          </a:p>
          <a:p>
            <a:pPr indent="0" lvl="0" marL="0" rtl="0" algn="just">
              <a:lnSpc>
                <a:spcPct val="105000"/>
              </a:lnSpc>
              <a:spcBef>
                <a:spcPts val="1400"/>
              </a:spcBef>
              <a:spcAft>
                <a:spcPts val="0"/>
              </a:spcAft>
              <a:buSzPts val="523"/>
              <a:buNone/>
            </a:pPr>
            <a:r>
              <a:rPr b="1" lang="en" sz="1300">
                <a:solidFill>
                  <a:schemeClr val="dk1"/>
                </a:solidFill>
                <a:latin typeface="Times New Roman"/>
                <a:ea typeface="Times New Roman"/>
                <a:cs typeface="Times New Roman"/>
                <a:sym typeface="Times New Roman"/>
              </a:rPr>
              <a:t>Collaborative Filtering </a:t>
            </a:r>
            <a:r>
              <a:rPr b="1" lang="en" sz="1300">
                <a:solidFill>
                  <a:schemeClr val="dk1"/>
                </a:solidFill>
                <a:latin typeface="Times New Roman"/>
                <a:ea typeface="Times New Roman"/>
                <a:cs typeface="Times New Roman"/>
                <a:sym typeface="Times New Roman"/>
              </a:rPr>
              <a:t>vs. ALS</a:t>
            </a:r>
            <a:endParaRPr b="1" sz="1300">
              <a:solidFill>
                <a:schemeClr val="dk1"/>
              </a:solidFill>
              <a:latin typeface="Times New Roman"/>
              <a:ea typeface="Times New Roman"/>
              <a:cs typeface="Times New Roman"/>
              <a:sym typeface="Times New Roman"/>
            </a:endParaRPr>
          </a:p>
          <a:p>
            <a:pPr indent="-311150" lvl="0" marL="457200" rtl="0" algn="just">
              <a:lnSpc>
                <a:spcPct val="105000"/>
              </a:lnSpc>
              <a:spcBef>
                <a:spcPts val="1200"/>
              </a:spcBef>
              <a:spcAft>
                <a:spcPts val="0"/>
              </a:spcAft>
              <a:buClr>
                <a:schemeClr val="dk1"/>
              </a:buClr>
              <a:buSzPts val="1300"/>
              <a:buFont typeface="Times New Roman"/>
              <a:buChar char="●"/>
            </a:pPr>
            <a:r>
              <a:rPr b="1" lang="en" sz="1300">
                <a:solidFill>
                  <a:schemeClr val="dk1"/>
                </a:solidFill>
                <a:latin typeface="Times New Roman"/>
                <a:ea typeface="Times New Roman"/>
                <a:cs typeface="Times New Roman"/>
                <a:sym typeface="Times New Roman"/>
              </a:rPr>
              <a:t>Handling Sparsity</a:t>
            </a:r>
            <a:r>
              <a:rPr lang="en" sz="1300">
                <a:solidFill>
                  <a:schemeClr val="dk1"/>
                </a:solidFill>
                <a:latin typeface="Times New Roman"/>
                <a:ea typeface="Times New Roman"/>
                <a:cs typeface="Times New Roman"/>
                <a:sym typeface="Times New Roman"/>
              </a:rPr>
              <a:t>: CF struggles when users have few overlapping interactions, while ALS learns latent factors and performs well even in extremely sparse datasets.</a:t>
            </a:r>
            <a:endParaRPr sz="1300">
              <a:solidFill>
                <a:schemeClr val="dk1"/>
              </a:solidFill>
              <a:latin typeface="Times New Roman"/>
              <a:ea typeface="Times New Roman"/>
              <a:cs typeface="Times New Roman"/>
              <a:sym typeface="Times New Roman"/>
            </a:endParaRPr>
          </a:p>
          <a:p>
            <a:pPr indent="-311150" lvl="0" marL="457200" rtl="0" algn="just">
              <a:lnSpc>
                <a:spcPct val="105000"/>
              </a:lnSpc>
              <a:spcBef>
                <a:spcPts val="0"/>
              </a:spcBef>
              <a:spcAft>
                <a:spcPts val="0"/>
              </a:spcAft>
              <a:buClr>
                <a:schemeClr val="dk1"/>
              </a:buClr>
              <a:buSzPts val="1300"/>
              <a:buFont typeface="Times New Roman"/>
              <a:buChar char="●"/>
            </a:pPr>
            <a:r>
              <a:rPr b="1" lang="en" sz="1300">
                <a:solidFill>
                  <a:schemeClr val="dk1"/>
                </a:solidFill>
                <a:latin typeface="Times New Roman"/>
                <a:ea typeface="Times New Roman"/>
                <a:cs typeface="Times New Roman"/>
                <a:sym typeface="Times New Roman"/>
              </a:rPr>
              <a:t>Model Capability</a:t>
            </a:r>
            <a:r>
              <a:rPr lang="en" sz="1300">
                <a:solidFill>
                  <a:schemeClr val="dk1"/>
                </a:solidFill>
                <a:latin typeface="Times New Roman"/>
                <a:ea typeface="Times New Roman"/>
                <a:cs typeface="Times New Roman"/>
                <a:sym typeface="Times New Roman"/>
              </a:rPr>
              <a:t>: CF relies on direct similarity, which is simple but limited; ALS captures deeper hidden patterns by factorizing the entire user–item matrix.</a:t>
            </a:r>
            <a:endParaRPr sz="1300">
              <a:solidFill>
                <a:schemeClr val="dk1"/>
              </a:solidFill>
              <a:latin typeface="Times New Roman"/>
              <a:ea typeface="Times New Roman"/>
              <a:cs typeface="Times New Roman"/>
              <a:sym typeface="Times New Roman"/>
            </a:endParaRPr>
          </a:p>
          <a:p>
            <a:pPr indent="-311150" lvl="0" marL="457200" rtl="0" algn="just">
              <a:lnSpc>
                <a:spcPct val="105000"/>
              </a:lnSpc>
              <a:spcBef>
                <a:spcPts val="0"/>
              </a:spcBef>
              <a:spcAft>
                <a:spcPts val="0"/>
              </a:spcAft>
              <a:buClr>
                <a:schemeClr val="dk1"/>
              </a:buClr>
              <a:buSzPts val="1300"/>
              <a:buFont typeface="Times New Roman"/>
              <a:buChar char="●"/>
            </a:pPr>
            <a:r>
              <a:rPr b="1" lang="en" sz="1300">
                <a:solidFill>
                  <a:schemeClr val="dk1"/>
                </a:solidFill>
                <a:latin typeface="Times New Roman"/>
                <a:ea typeface="Times New Roman"/>
                <a:cs typeface="Times New Roman"/>
                <a:sym typeface="Times New Roman"/>
              </a:rPr>
              <a:t>Accuracy: </a:t>
            </a:r>
            <a:r>
              <a:rPr lang="en" sz="1300">
                <a:solidFill>
                  <a:schemeClr val="dk1"/>
                </a:solidFill>
                <a:latin typeface="Times New Roman"/>
                <a:ea typeface="Times New Roman"/>
                <a:cs typeface="Times New Roman"/>
                <a:sym typeface="Times New Roman"/>
              </a:rPr>
              <a:t>ALS achieved significantly higher NDCG@20 in our experiments, whereas CF produced the lowest scores due to sparse co-occurrence.</a:t>
            </a:r>
            <a:endParaRPr sz="1300">
              <a:solidFill>
                <a:schemeClr val="dk1"/>
              </a:solidFill>
              <a:latin typeface="Times New Roman"/>
              <a:ea typeface="Times New Roman"/>
              <a:cs typeface="Times New Roman"/>
              <a:sym typeface="Times New Roman"/>
            </a:endParaRPr>
          </a:p>
          <a:p>
            <a:pPr indent="-311150" lvl="0" marL="457200" rtl="0" algn="just">
              <a:lnSpc>
                <a:spcPct val="105000"/>
              </a:lnSpc>
              <a:spcBef>
                <a:spcPts val="0"/>
              </a:spcBef>
              <a:spcAft>
                <a:spcPts val="0"/>
              </a:spcAft>
              <a:buClr>
                <a:schemeClr val="dk1"/>
              </a:buClr>
              <a:buSzPts val="1300"/>
              <a:buFont typeface="Times New Roman"/>
              <a:buChar char="●"/>
            </a:pPr>
            <a:r>
              <a:rPr b="1" lang="en" sz="1300">
                <a:solidFill>
                  <a:schemeClr val="dk1"/>
                </a:solidFill>
                <a:latin typeface="Times New Roman"/>
                <a:ea typeface="Times New Roman"/>
                <a:cs typeface="Times New Roman"/>
                <a:sym typeface="Times New Roman"/>
              </a:rPr>
              <a:t>Scalability &amp; Stability: </a:t>
            </a:r>
            <a:r>
              <a:rPr lang="en" sz="1300">
                <a:solidFill>
                  <a:schemeClr val="dk1"/>
                </a:solidFill>
                <a:latin typeface="Times New Roman"/>
                <a:ea typeface="Times New Roman"/>
                <a:cs typeface="Times New Roman"/>
                <a:sym typeface="Times New Roman"/>
              </a:rPr>
              <a:t>ALS scales efficiently and converges reliably on large datasets, while CF becomes less reliable and more sensitive to noise as sparsity increases.</a:t>
            </a:r>
            <a:endParaRPr sz="1300">
              <a:solidFill>
                <a:schemeClr val="dk1"/>
              </a:solidFill>
              <a:latin typeface="Times New Roman"/>
              <a:ea typeface="Times New Roman"/>
              <a:cs typeface="Times New Roman"/>
              <a:sym typeface="Times New Roman"/>
            </a:endParaRPr>
          </a:p>
          <a:p>
            <a:pPr indent="0" lvl="0" marL="0" rtl="0" algn="l">
              <a:lnSpc>
                <a:spcPct val="105000"/>
              </a:lnSpc>
              <a:spcBef>
                <a:spcPts val="1200"/>
              </a:spcBef>
              <a:spcAft>
                <a:spcPts val="1200"/>
              </a:spcAft>
              <a:buSzPts val="523"/>
              <a:buNone/>
            </a:pPr>
            <a:r>
              <a:t/>
            </a:r>
            <a:endParaRPr sz="1300">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Times New Roman"/>
                <a:ea typeface="Times New Roman"/>
                <a:cs typeface="Times New Roman"/>
                <a:sym typeface="Times New Roman"/>
              </a:rPr>
              <a:t>Conclusion</a:t>
            </a:r>
            <a:endParaRPr>
              <a:latin typeface="Times New Roman"/>
              <a:ea typeface="Times New Roman"/>
              <a:cs typeface="Times New Roman"/>
              <a:sym typeface="Times New Roman"/>
            </a:endParaRPr>
          </a:p>
        </p:txBody>
      </p:sp>
      <p:sp>
        <p:nvSpPr>
          <p:cNvPr id="115" name="Google Shape;115;p21"/>
          <p:cNvSpPr txBox="1"/>
          <p:nvPr>
            <p:ph idx="1" type="body"/>
          </p:nvPr>
        </p:nvSpPr>
        <p:spPr>
          <a:xfrm>
            <a:off x="433125" y="1017725"/>
            <a:ext cx="7734000" cy="3990900"/>
          </a:xfrm>
          <a:prstGeom prst="rect">
            <a:avLst/>
          </a:prstGeom>
        </p:spPr>
        <p:txBody>
          <a:bodyPr anchorCtr="0" anchor="t" bIns="91425" lIns="91425" spcFirstLastPara="1" rIns="91425" wrap="square" tIns="91425">
            <a:noAutofit/>
          </a:bodyPr>
          <a:lstStyle/>
          <a:p>
            <a:pPr indent="-311150" lvl="0" marL="457200" rtl="0" algn="just">
              <a:spcBef>
                <a:spcPts val="1200"/>
              </a:spcBef>
              <a:spcAft>
                <a:spcPts val="0"/>
              </a:spcAft>
              <a:buClr>
                <a:schemeClr val="dk1"/>
              </a:buClr>
              <a:buSzPts val="1300"/>
              <a:buFont typeface="Times New Roman"/>
              <a:buChar char="●"/>
            </a:pPr>
            <a:r>
              <a:rPr lang="en" sz="1300">
                <a:solidFill>
                  <a:schemeClr val="dk1"/>
                </a:solidFill>
                <a:latin typeface="Times New Roman"/>
                <a:ea typeface="Times New Roman"/>
                <a:cs typeface="Times New Roman"/>
                <a:sym typeface="Times New Roman"/>
              </a:rPr>
              <a:t>The comparison of LightGCN, ALS, and Collaborative Filtering shows that each method brings different strengths to handling sparse implicit-feedback data, with performance depending strongly on how well the model aligns with the dataset’s structure.</a:t>
            </a:r>
            <a:endParaRPr sz="1300">
              <a:solidFill>
                <a:schemeClr val="dk1"/>
              </a:solidFill>
              <a:latin typeface="Times New Roman"/>
              <a:ea typeface="Times New Roman"/>
              <a:cs typeface="Times New Roman"/>
              <a:sym typeface="Times New Roman"/>
            </a:endParaRPr>
          </a:p>
          <a:p>
            <a:pPr indent="-311150" lvl="0" marL="457200" rtl="0" algn="just">
              <a:spcBef>
                <a:spcPts val="0"/>
              </a:spcBef>
              <a:spcAft>
                <a:spcPts val="0"/>
              </a:spcAft>
              <a:buClr>
                <a:schemeClr val="dk1"/>
              </a:buClr>
              <a:buSzPts val="1300"/>
              <a:buFont typeface="Times New Roman"/>
              <a:buChar char="●"/>
            </a:pPr>
            <a:r>
              <a:rPr lang="en" sz="1300">
                <a:solidFill>
                  <a:schemeClr val="dk1"/>
                </a:solidFill>
                <a:latin typeface="Times New Roman"/>
                <a:ea typeface="Times New Roman"/>
                <a:cs typeface="Times New Roman"/>
                <a:sym typeface="Times New Roman"/>
              </a:rPr>
              <a:t>ALS achieved the best overall results, offering stable convergence, effective handling of sparsity, and strong ranking performance due to its confidence-weighted matrix factorization approach.</a:t>
            </a:r>
            <a:endParaRPr sz="1300">
              <a:solidFill>
                <a:schemeClr val="dk1"/>
              </a:solidFill>
              <a:latin typeface="Times New Roman"/>
              <a:ea typeface="Times New Roman"/>
              <a:cs typeface="Times New Roman"/>
              <a:sym typeface="Times New Roman"/>
            </a:endParaRPr>
          </a:p>
          <a:p>
            <a:pPr indent="-311150" lvl="0" marL="457200" rtl="0" algn="just">
              <a:spcBef>
                <a:spcPts val="0"/>
              </a:spcBef>
              <a:spcAft>
                <a:spcPts val="0"/>
              </a:spcAft>
              <a:buClr>
                <a:schemeClr val="dk1"/>
              </a:buClr>
              <a:buSzPts val="1300"/>
              <a:buFont typeface="Times New Roman"/>
              <a:buChar char="●"/>
            </a:pPr>
            <a:r>
              <a:rPr lang="en" sz="1300">
                <a:solidFill>
                  <a:schemeClr val="dk1"/>
                </a:solidFill>
                <a:latin typeface="Times New Roman"/>
                <a:ea typeface="Times New Roman"/>
                <a:cs typeface="Times New Roman"/>
                <a:sym typeface="Times New Roman"/>
              </a:rPr>
              <a:t>LightGCN captured multi-hop user–item relationships efficiently but was more sensitive to hyperparameter choices and required deeper tuning to match ALS performance.</a:t>
            </a:r>
            <a:endParaRPr sz="1300">
              <a:solidFill>
                <a:schemeClr val="dk1"/>
              </a:solidFill>
              <a:latin typeface="Times New Roman"/>
              <a:ea typeface="Times New Roman"/>
              <a:cs typeface="Times New Roman"/>
              <a:sym typeface="Times New Roman"/>
            </a:endParaRPr>
          </a:p>
          <a:p>
            <a:pPr indent="-311150" lvl="0" marL="457200" rtl="0" algn="just">
              <a:spcBef>
                <a:spcPts val="0"/>
              </a:spcBef>
              <a:spcAft>
                <a:spcPts val="0"/>
              </a:spcAft>
              <a:buClr>
                <a:schemeClr val="dk1"/>
              </a:buClr>
              <a:buSzPts val="1300"/>
              <a:buFont typeface="Times New Roman"/>
              <a:buChar char="●"/>
            </a:pPr>
            <a:r>
              <a:rPr lang="en" sz="1300">
                <a:solidFill>
                  <a:schemeClr val="dk1"/>
                </a:solidFill>
                <a:latin typeface="Times New Roman"/>
                <a:ea typeface="Times New Roman"/>
                <a:cs typeface="Times New Roman"/>
                <a:sym typeface="Times New Roman"/>
              </a:rPr>
              <a:t>Collaborative Filtering provided a simple and interpretable baseline, but its neighborhood-based assumptions limited its ability to capture deeper user–item dependencies in highly sparse environments.</a:t>
            </a:r>
            <a:endParaRPr sz="1300">
              <a:solidFill>
                <a:schemeClr val="dk1"/>
              </a:solidFill>
              <a:latin typeface="Times New Roman"/>
              <a:ea typeface="Times New Roman"/>
              <a:cs typeface="Times New Roman"/>
              <a:sym typeface="Times New Roman"/>
            </a:endParaRPr>
          </a:p>
          <a:p>
            <a:pPr indent="0" lvl="0" marL="0" rtl="0" algn="just">
              <a:spcBef>
                <a:spcPts val="1200"/>
              </a:spcBef>
              <a:spcAft>
                <a:spcPts val="0"/>
              </a:spcAft>
              <a:buNone/>
            </a:pPr>
            <a:r>
              <a:rPr b="1" lang="en" sz="1300">
                <a:solidFill>
                  <a:schemeClr val="dk1"/>
                </a:solidFill>
                <a:latin typeface="Times New Roman"/>
                <a:ea typeface="Times New Roman"/>
                <a:cs typeface="Times New Roman"/>
                <a:sym typeface="Times New Roman"/>
              </a:rPr>
              <a:t>Things That Didn’t Work Well</a:t>
            </a:r>
            <a:endParaRPr b="1" sz="1300">
              <a:solidFill>
                <a:schemeClr val="dk1"/>
              </a:solidFill>
              <a:latin typeface="Times New Roman"/>
              <a:ea typeface="Times New Roman"/>
              <a:cs typeface="Times New Roman"/>
              <a:sym typeface="Times New Roman"/>
            </a:endParaRPr>
          </a:p>
          <a:p>
            <a:pPr indent="-311150" lvl="0" marL="457200" rtl="0" algn="just">
              <a:spcBef>
                <a:spcPts val="1200"/>
              </a:spcBef>
              <a:spcAft>
                <a:spcPts val="0"/>
              </a:spcAft>
              <a:buClr>
                <a:schemeClr val="dk1"/>
              </a:buClr>
              <a:buSzPts val="1300"/>
              <a:buFont typeface="Times New Roman"/>
              <a:buChar char="●"/>
            </a:pPr>
            <a:r>
              <a:rPr lang="en" sz="1300">
                <a:solidFill>
                  <a:schemeClr val="dk1"/>
                </a:solidFill>
                <a:latin typeface="Times New Roman"/>
                <a:ea typeface="Times New Roman"/>
                <a:cs typeface="Times New Roman"/>
                <a:sym typeface="Times New Roman"/>
              </a:rPr>
              <a:t>Jaccard similarity - underperformed Too few overlapping users → weak similarity signal Much slower than cosine on large item sets</a:t>
            </a:r>
            <a:endParaRPr sz="1300">
              <a:solidFill>
                <a:schemeClr val="dk1"/>
              </a:solidFill>
              <a:latin typeface="Times New Roman"/>
              <a:ea typeface="Times New Roman"/>
              <a:cs typeface="Times New Roman"/>
              <a:sym typeface="Times New Roman"/>
            </a:endParaRPr>
          </a:p>
          <a:p>
            <a:pPr indent="-311150" lvl="0" marL="457200" rtl="0" algn="just">
              <a:spcBef>
                <a:spcPts val="0"/>
              </a:spcBef>
              <a:spcAft>
                <a:spcPts val="0"/>
              </a:spcAft>
              <a:buClr>
                <a:schemeClr val="dk1"/>
              </a:buClr>
              <a:buSzPts val="1300"/>
              <a:buFont typeface="Times New Roman"/>
              <a:buChar char="●"/>
            </a:pPr>
            <a:r>
              <a:rPr lang="en" sz="1300">
                <a:solidFill>
                  <a:schemeClr val="dk1"/>
                </a:solidFill>
                <a:latin typeface="Times New Roman"/>
                <a:ea typeface="Times New Roman"/>
                <a:cs typeface="Times New Roman"/>
                <a:sym typeface="Times New Roman"/>
              </a:rPr>
              <a:t>Over-normalization harmed performance</a:t>
            </a:r>
            <a:endParaRPr sz="1300">
              <a:solidFill>
                <a:schemeClr val="dk1"/>
              </a:solidFill>
              <a:latin typeface="Times New Roman"/>
              <a:ea typeface="Times New Roman"/>
              <a:cs typeface="Times New Roman"/>
              <a:sym typeface="Times New Roman"/>
            </a:endParaRPr>
          </a:p>
          <a:p>
            <a:pPr indent="-311150" lvl="0" marL="457200" rtl="0" algn="just">
              <a:spcBef>
                <a:spcPts val="0"/>
              </a:spcBef>
              <a:spcAft>
                <a:spcPts val="0"/>
              </a:spcAft>
              <a:buClr>
                <a:schemeClr val="dk1"/>
              </a:buClr>
              <a:buSzPts val="1300"/>
              <a:buFont typeface="Times New Roman"/>
              <a:buChar char="●"/>
            </a:pPr>
            <a:r>
              <a:rPr lang="en" sz="1300">
                <a:solidFill>
                  <a:schemeClr val="dk1"/>
                </a:solidFill>
                <a:latin typeface="Times New Roman"/>
                <a:ea typeface="Times New Roman"/>
                <a:cs typeface="Times New Roman"/>
                <a:sym typeface="Times New Roman"/>
              </a:rPr>
              <a:t>Early versions underperformed Initial LightGCN v1/v2 variants were weaker until proper tuning</a:t>
            </a:r>
            <a:endParaRPr sz="1300">
              <a:solidFill>
                <a:schemeClr val="dk1"/>
              </a:solidFill>
              <a:latin typeface="Times New Roman"/>
              <a:ea typeface="Times New Roman"/>
              <a:cs typeface="Times New Roman"/>
              <a:sym typeface="Times New Roman"/>
            </a:endParaRPr>
          </a:p>
          <a:p>
            <a:pPr indent="-311150" lvl="0" marL="457200" rtl="0" algn="just">
              <a:spcBef>
                <a:spcPts val="0"/>
              </a:spcBef>
              <a:spcAft>
                <a:spcPts val="0"/>
              </a:spcAft>
              <a:buClr>
                <a:schemeClr val="dk1"/>
              </a:buClr>
              <a:buSzPts val="1300"/>
              <a:buFont typeface="Times New Roman"/>
              <a:buChar char="●"/>
            </a:pPr>
            <a:r>
              <a:rPr lang="en" sz="1300">
                <a:solidFill>
                  <a:schemeClr val="dk1"/>
                </a:solidFill>
                <a:latin typeface="Times New Roman"/>
                <a:ea typeface="Times New Roman"/>
                <a:cs typeface="Times New Roman"/>
                <a:sym typeface="Times New Roman"/>
              </a:rPr>
              <a:t>High latent dimensions introduced noise Increasing factors beyond optimal size did not improve results</a:t>
            </a:r>
            <a:endParaRPr sz="1300">
              <a:solidFill>
                <a:schemeClr val="dk1"/>
              </a:solidFill>
              <a:latin typeface="Times New Roman"/>
              <a:ea typeface="Times New Roman"/>
              <a:cs typeface="Times New Roman"/>
              <a:sym typeface="Times New Roman"/>
            </a:endParaRPr>
          </a:p>
          <a:p>
            <a:pPr indent="0" lvl="0" marL="0" rtl="0" algn="just">
              <a:spcBef>
                <a:spcPts val="1200"/>
              </a:spcBef>
              <a:spcAft>
                <a:spcPts val="1200"/>
              </a:spcAft>
              <a:buNone/>
            </a:pPr>
            <a:r>
              <a:t/>
            </a:r>
            <a:endParaRPr sz="1300">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